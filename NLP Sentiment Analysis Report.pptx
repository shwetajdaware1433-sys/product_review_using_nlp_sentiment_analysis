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1" autoAdjust="0"/>
    <p:restoredTop sz="99500" autoAdjust="0"/>
  </p:normalViewPr>
  <p:slideViewPr>
    <p:cSldViewPr snapToGrid="0" snapToObjects="1">
      <p:cViewPr varScale="1">
        <p:scale>
          <a:sx n="98" d="100"/>
          <a:sy n="98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 baseline="0">
                <a:solidFill>
                  <a:srgbClr val="0B1F45"/>
                </a:solidFill>
                <a:latin typeface="Calibri"/>
                <a:ea typeface="Droid Sans"/>
                <a:cs typeface="Lucida Sans"/>
              </a:defRPr>
            </a:pPr>
            <a:r>
              <a:rPr lang="zh-CN"/>
              <a:t>Count of Reviews by Star Rating</a:t>
            </a:r>
          </a:p>
        </c:rich>
      </c:tx>
      <c:layout/>
      <c:overlay val="0"/>
      <c:spPr>
        <a:ln>
          <a:noFill/>
        </a:ln>
      </c:spPr>
    </c:title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2E6BF2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16213E"/>
                    </a:solidFill>
                    <a:latin typeface="Arial"/>
                    <a:ea typeface="Droid Sans"/>
                    <a:cs typeface="Lucida Sans"/>
                  </a:defRPr>
                </a:pPr>
                <a:endParaRPr lang="zh-CN"/>
              </a:p>
            </c:txPr>
            <c:numFmt formatCode="#,##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'Sheet1'!$A$2:$A$6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'Sheet1'!$B$2:$B$6</c:f>
              <c:numCache>
                <c:formatCode>#,##0</c:formatCode>
                <c:ptCount val="5"/>
                <c:pt idx="0">
                  <c:v>386.0</c:v>
                </c:pt>
                <c:pt idx="1">
                  <c:v>126.0</c:v>
                </c:pt>
                <c:pt idx="2">
                  <c:v>199.0</c:v>
                </c:pt>
                <c:pt idx="3">
                  <c:v>310.0</c:v>
                </c:pt>
                <c:pt idx="4">
                  <c:v>419.0</c:v>
                </c:pt>
              </c:numCache>
            </c:numRef>
          </c:val>
        </c:ser>
        <c:gapWidth val="150"/>
        <c:axId val="0"/>
        <c:axId val="1"/>
      </c:barChart>
      <c:catAx>
        <c:axId val="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100" b="0" i="0" u="none" strike="noStrike" baseline="0">
                <a:solidFill>
                  <a:srgbClr val="5B6478"/>
                </a:solidFill>
                <a:latin typeface="Arial"/>
                <a:ea typeface="Droid Sans"/>
                <a:cs typeface="Lucida Sans"/>
              </a:defRPr>
            </a:pPr>
            <a:endParaRPr lang="zh-CN"/>
          </a:p>
        </c:txPr>
        <c:crosses val="autoZero"/>
        <c:auto val="1"/>
        <c:lblOffset val="100"/>
        <c:lblAlgn val="ctr"/>
        <c:noMultiLvlLbl val="0"/>
        <c:crossAx val="1"/>
      </c:catAx>
      <c:valAx>
        <c:axId val="1"/>
        <c:scaling>
          <c:orientation val="minMax"/>
        </c:scaling>
        <c:delete val="0"/>
        <c:axPos val="l"/>
        <c:majorGridlines>
          <c:spPr>
            <a:ln w="12700">
              <a:solidFill>
                <a:srgbClr val="D8DEEA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200" b="0" i="0" u="none" strike="noStrike" baseline="0">
                <a:solidFill>
                  <a:srgbClr val="5B6478"/>
                </a:solidFill>
                <a:latin typeface="Arial"/>
                <a:ea typeface="Droid Sans"/>
                <a:cs typeface="Lucida Sans"/>
              </a:defRPr>
            </a:pPr>
            <a:endParaRPr lang="zh-CN"/>
          </a:p>
        </c:txPr>
        <c:crosses val="autoZero"/>
        <c:crossBetween val="between"/>
        <c:crossAx val="0"/>
      </c:valAx>
      <c:spPr>
        <a:noFill/>
        <a:ln>
          <a:noFill/>
        </a:ln>
      </c:spPr>
    </c:plotArea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Droid Sans"/>
          <a:ea typeface="Droid Sans"/>
          <a:cs typeface="Lucida Sans"/>
        </a:defRPr>
      </a:pPr>
      <a:endParaRPr lang="zh-CN"/>
    </a:p>
  </c:txPr>
  <c:printSettings>
    <c:headerFooter/>
    <c:pageMargins b="0.75" l="0.7" r="0.7" t="0.75" header="0.3" footer="0.3"/>
    <c:pageSetup/>
  </c:printSettings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 baseline="0">
                <a:solidFill>
                  <a:srgbClr val="0B1F45"/>
                </a:solidFill>
                <a:latin typeface="Calibri"/>
                <a:ea typeface="Droid Sans"/>
                <a:cs typeface="Lucida Sans"/>
              </a:defRPr>
            </a:pPr>
            <a:r>
              <a:rPr lang="zh-CN"/>
              <a:t>Sentiment Class Split (n = 1,440)</a:t>
            </a:r>
          </a:p>
        </c:rich>
      </c:tx>
      <c:layout/>
      <c:overlay val="0"/>
      <c:spPr>
        <a:ln>
          <a:noFill/>
        </a:ln>
      </c:spPr>
    </c:title>
    <c:autoTitleDeleted val="1"/>
    <c:plotArea>
      <c:layout/>
      <c:doughnutChart>
        <c:varyColors val="1"/>
        <c:ser>
          <c:idx val="0"/>
          <c:order val="0"/>
          <c:tx>
            <c:strRef>
              <c:f>Sheet1(2)!$B$1</c:f>
              <c:strCache>
                <c:ptCount val="1"/>
                <c:pt idx="0">
                  <c:v>Sentiment</c:v>
                </c:pt>
              </c:strCache>
            </c:strRef>
          </c:tx>
          <c:dPt>
            <c:idx val="0"/>
            <c:bubble3D val="0"/>
            <c:spPr>
              <a:solidFill>
                <a:srgbClr val="2E6BF2"/>
              </a:solidFill>
              <a:ln w="12700">
                <a:solidFill>
                  <a:srgbClr val="F9F9F9"/>
                </a:solidFill>
                <a:prstDash val="solid"/>
              </a:ln>
            </c:spPr>
          </c:dPt>
          <c:dPt>
            <c:idx val="1"/>
            <c:bubble3D val="0"/>
            <c:spPr>
              <a:solidFill>
                <a:srgbClr val="C0435A"/>
              </a:solidFill>
              <a:ln w="12700">
                <a:solidFill>
                  <a:srgbClr val="F9F9F9"/>
                </a:solidFill>
                <a:prstDash val="solid"/>
              </a:ln>
            </c:spPr>
          </c:dPt>
          <c:dPt>
            <c:idx val="2"/>
            <c:bubble3D val="0"/>
            <c:spPr>
              <a:solidFill>
                <a:srgbClr val="8A93A8"/>
              </a:solidFill>
              <a:ln w="12700">
                <a:solidFill>
                  <a:srgbClr val="F9F9F9"/>
                </a:solidFill>
                <a:prstDash val="solid"/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800" b="0" i="0" u="none" strike="noStrike" baseline="0">
                    <a:solidFill>
                      <a:srgbClr val="000000"/>
                    </a:solidFill>
                    <a:latin typeface="Arial"/>
                    <a:ea typeface="Droid Sans"/>
                    <a:cs typeface="Lucida Sans"/>
                  </a:defRPr>
                </a:pPr>
                <a:endParaRPr lang="zh-CN"/>
              </a:p>
            </c:txPr>
            <c:numFmt formatCode="0%" sourceLinked="0"/>
            <c:dLbl>
              <c:idx val="0"/>
              <c:numFmt formatCode="0%" sourceLinked="0"/>
              <c:spPr>
                <a:noFill/>
              </c:spPr>
              <c:txPr>
                <a:bodyPr/>
                <a:lstStyle/>
                <a:p>
                  <a:pPr>
                    <a:defRPr sz="1200" b="0" i="0" u="none" strike="noStrike" baseline="0">
                      <a:solidFill>
                        <a:srgbClr val="FFFFFF"/>
                      </a:solidFill>
                      <a:latin typeface="Calibri"/>
                      <a:ea typeface="Droid Sans"/>
                      <a:cs typeface="Lucida Sans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>
                <a:noFill/>
              </c:spPr>
              <c:txPr>
                <a:bodyPr/>
                <a:lstStyle/>
                <a:p>
                  <a:pPr>
                    <a:defRPr sz="1200" b="0" i="0" u="none" strike="noStrike" baseline="0">
                      <a:solidFill>
                        <a:srgbClr val="FFFFFF"/>
                      </a:solidFill>
                      <a:latin typeface="Calibri"/>
                      <a:ea typeface="Droid Sans"/>
                      <a:cs typeface="Lucida Sans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>
                <a:noFill/>
              </c:spPr>
              <c:txPr>
                <a:bodyPr/>
                <a:lstStyle/>
                <a:p>
                  <a:pPr>
                    <a:defRPr sz="1200" b="0" i="0" u="none" strike="noStrike" baseline="0">
                      <a:solidFill>
                        <a:srgbClr val="FFFFFF"/>
                      </a:solidFill>
                      <a:latin typeface="Calibri"/>
                      <a:ea typeface="Droid Sans"/>
                      <a:cs typeface="Lucida Sans"/>
                    </a:defRPr>
                  </a:pPr>
                  <a:endParaRPr lang="zh-CN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'Sheet1(2)'!$A$2:$A$4</c:f>
              <c:strCache>
                <c:ptCount val="3"/>
                <c:pt idx="0">
                  <c:v>Positive</c:v>
                </c:pt>
                <c:pt idx="1">
                  <c:v>Negative</c:v>
                </c:pt>
                <c:pt idx="2">
                  <c:v>Neutral</c:v>
                </c:pt>
              </c:strCache>
            </c:strRef>
          </c:cat>
          <c:val>
            <c:numRef>
              <c:f>'Sheet1(2)'!$B$2:$B$4</c:f>
              <c:numCache>
                <c:formatCode>General</c:formatCode>
                <c:ptCount val="3"/>
                <c:pt idx="0">
                  <c:v>729.0</c:v>
                </c:pt>
                <c:pt idx="1">
                  <c:v>512.0</c:v>
                </c:pt>
                <c:pt idx="2">
                  <c:v>199.0</c:v>
                </c:pt>
              </c:numCache>
            </c:numRef>
          </c:val>
        </c:ser>
        <c:holeSize val="55"/>
        <c:firstSliceAng val="0"/>
      </c:doughnutChart>
      <c:spPr>
        <a:noFill/>
        <a:ln>
          <a:noFill/>
        </a:ln>
      </c:spPr>
    </c:plotArea>
    <c:legend>
      <c:legendPos val="b"/>
      <c:layout/>
      <c:overlay val="0"/>
      <c:spPr>
        <a:noFill/>
        <a:ln>
          <a:noFill/>
        </a:ln>
      </c:spPr>
      <c:txPr>
        <a:bodyPr/>
        <a:lstStyle/>
        <a:p>
          <a:pPr>
            <a:defRPr sz="1100" b="0" i="0" u="none" strike="noStrike" baseline="0">
              <a:solidFill>
                <a:srgbClr val="16213E"/>
              </a:solidFill>
              <a:latin typeface="Droid Sans"/>
              <a:ea typeface="Droid Sans"/>
              <a:cs typeface="Lucida Sans"/>
            </a:defRPr>
          </a:pPr>
          <a:endParaRPr lang="zh-CN"/>
        </a:p>
      </c:txPr>
    </c:legend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Droid Sans"/>
          <a:ea typeface="Droid Sans"/>
          <a:cs typeface="Lucida Sans"/>
        </a:defRPr>
      </a:pPr>
      <a:endParaRPr lang="zh-CN"/>
    </a:p>
  </c:txPr>
  <c:printSettings>
    <c:headerFooter/>
    <c:pageMargins b="0.75" l="0.7" r="0.7" t="0.75" header="0.3" footer="0.3"/>
    <c:pageSetup/>
  </c:printSettings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50" b="0" i="0" u="none" strike="noStrike" baseline="0">
                <a:solidFill>
                  <a:srgbClr val="0B1F45"/>
                </a:solidFill>
                <a:latin typeface="Calibri"/>
                <a:ea typeface="Droid Sans"/>
                <a:cs typeface="Lucida Sans"/>
              </a:defRPr>
            </a:pPr>
            <a:r>
              <a:rPr lang="zh-CN"/>
              <a:t>Top 8 Frequent Words</a:t>
            </a:r>
          </a:p>
        </c:rich>
      </c:tx>
      <c:layout/>
      <c:overlay val="0"/>
      <c:spPr>
        <a:ln>
          <a:noFill/>
        </a:ln>
      </c:spPr>
    </c:title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Sheet1(3)!$B$1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E6BF2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0" i="0" u="none" strike="noStrike" baseline="0">
                    <a:solidFill>
                      <a:srgbClr val="16213E"/>
                    </a:solidFill>
                    <a:latin typeface="Arial"/>
                    <a:ea typeface="Droid Sans"/>
                    <a:cs typeface="Lucida Sans"/>
                  </a:defRPr>
                </a:pPr>
                <a:endParaRPr lang="zh-CN"/>
              </a:p>
            </c:txPr>
            <c:numFmt formatCode="#,##0" sourceLinked="0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'Sheet1(3)'!$A$2:$A$9</c:f>
              <c:strCache>
                <c:ptCount val="8"/>
                <c:pt idx="0">
                  <c:v>phone</c:v>
                </c:pt>
                <c:pt idx="1">
                  <c:v>good</c:v>
                </c:pt>
                <c:pt idx="2">
                  <c:v>camera</c:v>
                </c:pt>
                <c:pt idx="3">
                  <c:v>battery</c:v>
                </c:pt>
                <c:pt idx="4">
                  <c:v>samsung</c:v>
                </c:pt>
                <c:pt idx="5">
                  <c:v>quality</c:v>
                </c:pt>
                <c:pt idx="6">
                  <c:v>mobile</c:v>
                </c:pt>
                <c:pt idx="7">
                  <c:v>price</c:v>
                </c:pt>
              </c:strCache>
            </c:strRef>
          </c:cat>
          <c:val>
            <c:numRef>
              <c:f>'Sheet1(3)'!$B$2:$B$9</c:f>
              <c:numCache>
                <c:formatCode>#,##0</c:formatCode>
                <c:ptCount val="8"/>
                <c:pt idx="0">
                  <c:v>1915.0</c:v>
                </c:pt>
                <c:pt idx="1">
                  <c:v>1357.0</c:v>
                </c:pt>
                <c:pt idx="2">
                  <c:v>981.0</c:v>
                </c:pt>
                <c:pt idx="3">
                  <c:v>806.0</c:v>
                </c:pt>
                <c:pt idx="4">
                  <c:v>747.0</c:v>
                </c:pt>
                <c:pt idx="5">
                  <c:v>699.0</c:v>
                </c:pt>
                <c:pt idx="6">
                  <c:v>614.0</c:v>
                </c:pt>
                <c:pt idx="7">
                  <c:v>442.0</c:v>
                </c:pt>
              </c:numCache>
            </c:numRef>
          </c:val>
        </c:ser>
        <c:gapWidth val="150"/>
        <c:axId val="0"/>
        <c:axId val="1"/>
      </c:barChart>
      <c:catAx>
        <c:axId val="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100" b="0" i="0" u="none" strike="noStrike" baseline="0">
                <a:solidFill>
                  <a:srgbClr val="16213E"/>
                </a:solidFill>
                <a:latin typeface="Arial"/>
                <a:ea typeface="Droid Sans"/>
                <a:cs typeface="Lucida Sans"/>
              </a:defRPr>
            </a:pPr>
            <a:endParaRPr lang="zh-CN"/>
          </a:p>
        </c:txPr>
        <c:crosses val="autoZero"/>
        <c:auto val="1"/>
        <c:lblOffset val="100"/>
        <c:lblAlgn val="ctr"/>
        <c:noMultiLvlLbl val="0"/>
        <c:crossAx val="1"/>
      </c:catAx>
      <c:valAx>
        <c:axId val="1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Droid Sans"/>
                <a:ea typeface="Droid Sans"/>
                <a:cs typeface="Lucida Sans"/>
              </a:defRPr>
            </a:pPr>
            <a:endParaRPr lang="zh-CN"/>
          </a:p>
        </c:txPr>
        <c:crosses val="autoZero"/>
        <c:crossBetween val="between"/>
        <c:crossAx val="0"/>
      </c:valAx>
      <c:spPr>
        <a:noFill/>
        <a:ln>
          <a:noFill/>
        </a:ln>
      </c:spPr>
    </c:plotArea>
    <c:plotVisOnly val="1"/>
    <c:dispBlanksAs val="span"/>
    <c:showDLblsOverMax val="0"/>
  </c:chart>
  <c:spPr>
    <a:noFill/>
    <a:ln>
      <a:noFill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Droid Sans"/>
          <a:ea typeface="Droid Sans"/>
          <a:cs typeface="Lucida Sans"/>
        </a:defRPr>
      </a:pPr>
      <a:endParaRPr lang="zh-CN"/>
    </a:p>
  </c:txPr>
  <c:printSettings>
    <c:headerFooter/>
    <c:pageMargins b="0.75" l="0.7" r="0.7" t="0.75" header="0.3" footer="0.3"/>
    <c:pageSetup/>
  </c:printSettings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993715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5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98583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645969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0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721863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2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3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735861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6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399229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7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8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54680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1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09958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3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44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169514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7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438022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2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3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7184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4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4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579408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06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07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431967"/>
      </p:ext>
    </p:extLst>
  </p:cSld>
  <p:clrMapOvr>
    <a:masterClrMapping/>
  </p:clrMapOvr>
</p:notes>
</file>

<file path=ppt/notesSlides/notesSlide1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52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53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13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330371"/>
      </p:ext>
    </p:extLst>
  </p:cSld>
  <p:clrMapOvr>
    <a:masterClrMapping/>
  </p:clrMapOvr>
</p:notes>
</file>

<file path=ppt/notesSlides/notesSlide1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77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78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14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581269"/>
      </p:ext>
    </p:extLst>
  </p:cSld>
  <p:clrMapOvr>
    <a:masterClrMapping/>
  </p:clrMapOvr>
</p:notes>
</file>

<file path=ppt/notesSlides/notesSlide1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8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9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15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866329"/>
      </p:ext>
    </p:extLst>
  </p:cSld>
  <p:clrMapOvr>
    <a:masterClrMapping/>
  </p:clrMapOvr>
</p:notes>
</file>

<file path=ppt/notesSlides/notesSlide1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31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32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16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874770"/>
      </p:ext>
    </p:extLst>
  </p:cSld>
  <p:clrMapOvr>
    <a:masterClrMapping/>
  </p:clrMapOvr>
</p:notes>
</file>

<file path=ppt/notesSlides/notesSlide1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8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8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19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48529"/>
      </p:ext>
    </p:extLst>
  </p:cSld>
  <p:clrMapOvr>
    <a:masterClrMapping/>
  </p:clrMapOvr>
</p:notes>
</file>

<file path=ppt/notesSlides/notesSlide2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1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2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20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459740"/>
      </p:ext>
    </p:extLst>
  </p:cSld>
  <p:clrMapOvr>
    <a:masterClrMapping/>
  </p:clrMapOvr>
</p:notes>
</file>

<file path=ppt/notesSlides/notesSlide2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4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4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21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594"/>
      </p:ext>
    </p:extLst>
  </p:cSld>
  <p:clrMapOvr>
    <a:masterClrMapping/>
  </p:clrMapOvr>
</p:notes>
</file>

<file path=ppt/notesSlides/notesSlide2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59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60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22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37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9650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900733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6620859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753047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00354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982716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074716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68408442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2003634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383959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08918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967431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7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image" Target="../media/4.png"/><Relationship Id="rId3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 rot="0">
            <a:off x="8595360" y="0"/>
            <a:ext cx="3593591" cy="6858000"/>
          </a:xfrm>
          <a:prstGeom prst="rect"/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3" name="矩形"/>
          <p:cNvSpPr>
            <a:spLocks/>
          </p:cNvSpPr>
          <p:nvPr/>
        </p:nvSpPr>
        <p:spPr>
          <a:xfrm rot="0">
            <a:off x="8595360" y="0"/>
            <a:ext cx="36576" cy="6858000"/>
          </a:xfrm>
          <a:prstGeom prst="rect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4" name="椭圆"/>
          <p:cNvSpPr>
            <a:spLocks/>
          </p:cNvSpPr>
          <p:nvPr/>
        </p:nvSpPr>
        <p:spPr>
          <a:xfrm rot="0">
            <a:off x="9235440" y="822960"/>
            <a:ext cx="91440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5" name="椭圆"/>
          <p:cNvSpPr>
            <a:spLocks/>
          </p:cNvSpPr>
          <p:nvPr/>
        </p:nvSpPr>
        <p:spPr>
          <a:xfrm rot="0">
            <a:off x="9784080" y="8229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" name="椭圆"/>
          <p:cNvSpPr>
            <a:spLocks/>
          </p:cNvSpPr>
          <p:nvPr/>
        </p:nvSpPr>
        <p:spPr>
          <a:xfrm rot="0">
            <a:off x="10332720" y="8229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" name="椭圆"/>
          <p:cNvSpPr>
            <a:spLocks/>
          </p:cNvSpPr>
          <p:nvPr/>
        </p:nvSpPr>
        <p:spPr>
          <a:xfrm rot="0">
            <a:off x="9235440" y="1280160"/>
            <a:ext cx="91440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8" name="椭圆"/>
          <p:cNvSpPr>
            <a:spLocks/>
          </p:cNvSpPr>
          <p:nvPr/>
        </p:nvSpPr>
        <p:spPr>
          <a:xfrm rot="0">
            <a:off x="9784080" y="12801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9" name="椭圆"/>
          <p:cNvSpPr>
            <a:spLocks/>
          </p:cNvSpPr>
          <p:nvPr/>
        </p:nvSpPr>
        <p:spPr>
          <a:xfrm rot="0">
            <a:off x="10332720" y="12801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0" name="椭圆"/>
          <p:cNvSpPr>
            <a:spLocks/>
          </p:cNvSpPr>
          <p:nvPr/>
        </p:nvSpPr>
        <p:spPr>
          <a:xfrm rot="0">
            <a:off x="9235440" y="1737360"/>
            <a:ext cx="91440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1" name="椭圆"/>
          <p:cNvSpPr>
            <a:spLocks/>
          </p:cNvSpPr>
          <p:nvPr/>
        </p:nvSpPr>
        <p:spPr>
          <a:xfrm rot="0">
            <a:off x="9784080" y="17373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2" name="椭圆"/>
          <p:cNvSpPr>
            <a:spLocks/>
          </p:cNvSpPr>
          <p:nvPr/>
        </p:nvSpPr>
        <p:spPr>
          <a:xfrm rot="0">
            <a:off x="10332720" y="17373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3" name="矩形"/>
          <p:cNvSpPr>
            <a:spLocks/>
          </p:cNvSpPr>
          <p:nvPr/>
        </p:nvSpPr>
        <p:spPr>
          <a:xfrm rot="0">
            <a:off x="640080" y="1113609"/>
            <a:ext cx="75895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0" cap="none" spc="15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NLP  ·  MACHINE LEARNING  ·  CUSTOMER ANALYTICS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594360" y="1647878"/>
            <a:ext cx="7772400" cy="1600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Customer Review Sentiment</a:t>
            </a:r>
            <a:endParaRPr lang="en-US" altLang="zh-CN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Analysis using NLP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 rot="0">
            <a:off x="640080" y="4160520"/>
            <a:ext cx="7406639" cy="64007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" name="直线"/>
          <p:cNvSpPr>
            <a:spLocks/>
          </p:cNvSpPr>
          <p:nvPr/>
        </p:nvSpPr>
        <p:spPr>
          <a:xfrm rot="0">
            <a:off x="694508" y="3429000"/>
            <a:ext cx="5167450" cy="0"/>
          </a:xfrm>
          <a:prstGeom prst="line"/>
          <a:noFill/>
          <a:ln w="19050" cmpd="sng" cap="flat">
            <a:solidFill>
              <a:srgbClr val="2E6BF2"/>
            </a:solidFill>
            <a:prstDash val="solid"/>
            <a:round/>
          </a:ln>
        </p:spPr>
      </p:sp>
      <p:sp>
        <p:nvSpPr>
          <p:cNvPr id="17" name="矩形"/>
          <p:cNvSpPr>
            <a:spLocks/>
          </p:cNvSpPr>
          <p:nvPr/>
        </p:nvSpPr>
        <p:spPr>
          <a:xfrm rot="0">
            <a:off x="640080" y="3794760"/>
            <a:ext cx="6400800" cy="1539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sng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Prepared by:</a:t>
            </a:r>
            <a:endParaRPr lang="en-US" altLang="zh-CN" sz="1250" b="1" i="0" u="sng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Shanmuga Priya RK</a:t>
            </a:r>
            <a:endParaRPr lang="en-US" altLang="zh-CN" sz="1250" b="1" i="1" u="none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 Sanu</a:t>
            </a:r>
            <a:endParaRPr lang="en-US" altLang="zh-CN" sz="1250" b="1" i="1" u="none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Mrinmoy Nanda</a:t>
            </a:r>
            <a:endParaRPr lang="en-US" altLang="zh-CN" sz="1250" b="1" i="1" u="none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Abhishek Shanker</a:t>
            </a:r>
            <a:endParaRPr lang="en-US" altLang="zh-CN" sz="1250" b="1" i="1" u="none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Shweta Jayprakash </a:t>
            </a: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Daware</a:t>
            </a:r>
            <a:endParaRPr lang="en-US" altLang="zh-CN" sz="1250" b="1" i="1" u="none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Summit Baruah</a:t>
            </a:r>
            <a:endParaRPr lang="zh-CN" altLang="en-US" sz="1250" b="0" i="1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548640" y="6446520"/>
            <a:ext cx="758952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5000"/>
              <a:buFont typeface="Arial" pitchFamily="34" charset="0"/>
              <a:buChar char="•"/>
            </a:pPr>
            <a:r>
              <a:rPr lang="en-US" altLang="zh-CN" sz="1250" b="1" i="0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Live deployment:  </a:t>
            </a: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streamlit.app  |  Model portfolio: 7 algorithms  |  Dataset: 1,440 reviews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椭圆"/>
          <p:cNvSpPr>
            <a:spLocks/>
          </p:cNvSpPr>
          <p:nvPr/>
        </p:nvSpPr>
        <p:spPr>
          <a:xfrm rot="0">
            <a:off x="9646920" y="3200400"/>
            <a:ext cx="1188719" cy="1188720"/>
          </a:xfrm>
          <a:prstGeom prst="ellipse"/>
          <a:solidFill>
            <a:srgbClr val="1E3568"/>
          </a:solidFill>
          <a:ln w="12700" cmpd="sng" cap="flat">
            <a:noFill/>
            <a:prstDash val="solid"/>
            <a:miter/>
          </a:ln>
        </p:spPr>
      </p:sp>
      <p:sp>
        <p:nvSpPr>
          <p:cNvPr id="20" name="矩形"/>
          <p:cNvSpPr>
            <a:spLocks/>
          </p:cNvSpPr>
          <p:nvPr/>
        </p:nvSpPr>
        <p:spPr>
          <a:xfrm rot="0">
            <a:off x="9646920" y="3200400"/>
            <a:ext cx="1188719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8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①</a:t>
            </a:r>
            <a:endParaRPr lang="zh-CN" altLang="en-US" sz="33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8595360" y="6309360"/>
            <a:ext cx="3566160" cy="27431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" name="矩形"/>
          <p:cNvSpPr>
            <a:spLocks/>
          </p:cNvSpPr>
          <p:nvPr/>
        </p:nvSpPr>
        <p:spPr>
          <a:xfrm rot="0">
            <a:off x="4597038" y="3825812"/>
            <a:ext cx="1594758" cy="6629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sng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Mentor: </a:t>
            </a:r>
            <a:endParaRPr lang="en-US" altLang="zh-CN" sz="1250" b="1" i="0" u="sng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50" b="1" i="0" u="sng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lvl="1"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1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Dilaver Basha</a:t>
            </a:r>
            <a:endParaRPr lang="zh-CN" altLang="en-US" sz="1250" b="1" i="1" u="none" strike="noStrike" kern="1200" cap="none" spc="0" baseline="0">
              <a:solidFill>
                <a:srgbClr val="9AA6C6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92064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ROADMAP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What We Will Cover Today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complete, production-grade walkthrough — from raw customer language to a deployed prediction engine.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圆角矩形"/>
          <p:cNvSpPr>
            <a:spLocks/>
          </p:cNvSpPr>
          <p:nvPr/>
        </p:nvSpPr>
        <p:spPr>
          <a:xfrm rot="0">
            <a:off x="457200" y="1783080"/>
            <a:ext cx="5394960" cy="896112"/>
          </a:xfrm>
          <a:prstGeom prst="roundRect">
            <a:avLst>
              <a:gd name="adj" fmla="val 612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0" name="矩形"/>
          <p:cNvSpPr>
            <a:spLocks/>
          </p:cNvSpPr>
          <p:nvPr/>
        </p:nvSpPr>
        <p:spPr>
          <a:xfrm rot="0">
            <a:off x="621791" y="1783080"/>
            <a:ext cx="822960" cy="8961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01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" name="直线"/>
          <p:cNvSpPr>
            <a:spLocks/>
          </p:cNvSpPr>
          <p:nvPr/>
        </p:nvSpPr>
        <p:spPr>
          <a:xfrm rot="0">
            <a:off x="1417320" y="1911096"/>
            <a:ext cx="0" cy="640080"/>
          </a:xfrm>
          <a:prstGeom prst="line"/>
          <a:noFill/>
          <a:ln w="1270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2" name="矩形"/>
          <p:cNvSpPr>
            <a:spLocks/>
          </p:cNvSpPr>
          <p:nvPr/>
        </p:nvSpPr>
        <p:spPr>
          <a:xfrm rot="0">
            <a:off x="1554480" y="1892808"/>
            <a:ext cx="416052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Business Problem &amp; Objective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1554480" y="2240280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Why sentiment intelligence matters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圆角矩形"/>
          <p:cNvSpPr>
            <a:spLocks/>
          </p:cNvSpPr>
          <p:nvPr/>
        </p:nvSpPr>
        <p:spPr>
          <a:xfrm rot="0">
            <a:off x="457200" y="2834640"/>
            <a:ext cx="5394960" cy="896112"/>
          </a:xfrm>
          <a:prstGeom prst="roundRect">
            <a:avLst>
              <a:gd name="adj" fmla="val 612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5" name="矩形"/>
          <p:cNvSpPr>
            <a:spLocks/>
          </p:cNvSpPr>
          <p:nvPr/>
        </p:nvSpPr>
        <p:spPr>
          <a:xfrm rot="0">
            <a:off x="621791" y="2834640"/>
            <a:ext cx="822960" cy="8961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02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" name="直线"/>
          <p:cNvSpPr>
            <a:spLocks/>
          </p:cNvSpPr>
          <p:nvPr/>
        </p:nvSpPr>
        <p:spPr>
          <a:xfrm rot="0">
            <a:off x="1417320" y="2962656"/>
            <a:ext cx="0" cy="640079"/>
          </a:xfrm>
          <a:prstGeom prst="line"/>
          <a:noFill/>
          <a:ln w="1270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" name="矩形"/>
          <p:cNvSpPr>
            <a:spLocks/>
          </p:cNvSpPr>
          <p:nvPr/>
        </p:nvSpPr>
        <p:spPr>
          <a:xfrm rot="0">
            <a:off x="1554480" y="2944367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Dataset &amp; Exploratory Analysis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矩形"/>
          <p:cNvSpPr>
            <a:spLocks/>
          </p:cNvSpPr>
          <p:nvPr/>
        </p:nvSpPr>
        <p:spPr>
          <a:xfrm rot="0">
            <a:off x="1554480" y="3291840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1,440 reviews, distributions, language patterns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圆角矩形"/>
          <p:cNvSpPr>
            <a:spLocks/>
          </p:cNvSpPr>
          <p:nvPr/>
        </p:nvSpPr>
        <p:spPr>
          <a:xfrm rot="0">
            <a:off x="457200" y="3886200"/>
            <a:ext cx="5394960" cy="896111"/>
          </a:xfrm>
          <a:prstGeom prst="roundRect">
            <a:avLst>
              <a:gd name="adj" fmla="val 612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40" name="矩形"/>
          <p:cNvSpPr>
            <a:spLocks/>
          </p:cNvSpPr>
          <p:nvPr/>
        </p:nvSpPr>
        <p:spPr>
          <a:xfrm rot="0">
            <a:off x="621791" y="3886200"/>
            <a:ext cx="822960" cy="8961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03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直线"/>
          <p:cNvSpPr>
            <a:spLocks/>
          </p:cNvSpPr>
          <p:nvPr/>
        </p:nvSpPr>
        <p:spPr>
          <a:xfrm rot="0">
            <a:off x="1417320" y="4014216"/>
            <a:ext cx="0" cy="640079"/>
          </a:xfrm>
          <a:prstGeom prst="line"/>
          <a:noFill/>
          <a:ln w="1270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" name="矩形"/>
          <p:cNvSpPr>
            <a:spLocks/>
          </p:cNvSpPr>
          <p:nvPr/>
        </p:nvSpPr>
        <p:spPr>
          <a:xfrm rot="0">
            <a:off x="1554480" y="3995928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Text Preprocessing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1554480" y="4343400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Turning noisy text into model-ready signal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圆角矩形"/>
          <p:cNvSpPr>
            <a:spLocks/>
          </p:cNvSpPr>
          <p:nvPr/>
        </p:nvSpPr>
        <p:spPr>
          <a:xfrm rot="0">
            <a:off x="457200" y="4937760"/>
            <a:ext cx="5394960" cy="896111"/>
          </a:xfrm>
          <a:prstGeom prst="roundRect">
            <a:avLst>
              <a:gd name="adj" fmla="val 612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45" name="矩形"/>
          <p:cNvSpPr>
            <a:spLocks/>
          </p:cNvSpPr>
          <p:nvPr/>
        </p:nvSpPr>
        <p:spPr>
          <a:xfrm rot="0">
            <a:off x="621791" y="4937760"/>
            <a:ext cx="822960" cy="8961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04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直线"/>
          <p:cNvSpPr>
            <a:spLocks/>
          </p:cNvSpPr>
          <p:nvPr/>
        </p:nvSpPr>
        <p:spPr>
          <a:xfrm rot="0">
            <a:off x="1417320" y="5065775"/>
            <a:ext cx="0" cy="640080"/>
          </a:xfrm>
          <a:prstGeom prst="line"/>
          <a:noFill/>
          <a:ln w="1270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" name="矩形"/>
          <p:cNvSpPr>
            <a:spLocks/>
          </p:cNvSpPr>
          <p:nvPr/>
        </p:nvSpPr>
        <p:spPr>
          <a:xfrm rot="0">
            <a:off x="1554480" y="5047488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Feature Engineering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矩形"/>
          <p:cNvSpPr>
            <a:spLocks/>
          </p:cNvSpPr>
          <p:nvPr/>
        </p:nvSpPr>
        <p:spPr>
          <a:xfrm rot="0">
            <a:off x="1554480" y="5394960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TF-IDF vectorization &amp; train/test design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圆角矩形"/>
          <p:cNvSpPr>
            <a:spLocks/>
          </p:cNvSpPr>
          <p:nvPr/>
        </p:nvSpPr>
        <p:spPr>
          <a:xfrm rot="0">
            <a:off x="6309360" y="1783080"/>
            <a:ext cx="5394960" cy="896112"/>
          </a:xfrm>
          <a:prstGeom prst="roundRect">
            <a:avLst>
              <a:gd name="adj" fmla="val 612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0" name="矩形"/>
          <p:cNvSpPr>
            <a:spLocks/>
          </p:cNvSpPr>
          <p:nvPr/>
        </p:nvSpPr>
        <p:spPr>
          <a:xfrm rot="0">
            <a:off x="6473951" y="1783080"/>
            <a:ext cx="822959" cy="8961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05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" name="直线"/>
          <p:cNvSpPr>
            <a:spLocks/>
          </p:cNvSpPr>
          <p:nvPr/>
        </p:nvSpPr>
        <p:spPr>
          <a:xfrm rot="0">
            <a:off x="7269480" y="1911096"/>
            <a:ext cx="0" cy="640080"/>
          </a:xfrm>
          <a:prstGeom prst="line"/>
          <a:noFill/>
          <a:ln w="1270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52" name="矩形"/>
          <p:cNvSpPr>
            <a:spLocks/>
          </p:cNvSpPr>
          <p:nvPr/>
        </p:nvSpPr>
        <p:spPr>
          <a:xfrm rot="0">
            <a:off x="7406639" y="1892808"/>
            <a:ext cx="416052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Model Building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7406639" y="2240280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 algorithms, classical ML to neural &amp; lexicon-based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圆角矩形"/>
          <p:cNvSpPr>
            <a:spLocks/>
          </p:cNvSpPr>
          <p:nvPr/>
        </p:nvSpPr>
        <p:spPr>
          <a:xfrm rot="0">
            <a:off x="6309360" y="2834640"/>
            <a:ext cx="5394960" cy="896112"/>
          </a:xfrm>
          <a:prstGeom prst="roundRect">
            <a:avLst>
              <a:gd name="adj" fmla="val 612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5" name="矩形"/>
          <p:cNvSpPr>
            <a:spLocks/>
          </p:cNvSpPr>
          <p:nvPr/>
        </p:nvSpPr>
        <p:spPr>
          <a:xfrm rot="0">
            <a:off x="6473951" y="2834640"/>
            <a:ext cx="822959" cy="8961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06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直线"/>
          <p:cNvSpPr>
            <a:spLocks/>
          </p:cNvSpPr>
          <p:nvPr/>
        </p:nvSpPr>
        <p:spPr>
          <a:xfrm rot="0">
            <a:off x="7269480" y="2962656"/>
            <a:ext cx="0" cy="640079"/>
          </a:xfrm>
          <a:prstGeom prst="line"/>
          <a:noFill/>
          <a:ln w="1270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57" name="矩形"/>
          <p:cNvSpPr>
            <a:spLocks/>
          </p:cNvSpPr>
          <p:nvPr/>
        </p:nvSpPr>
        <p:spPr>
          <a:xfrm rot="0">
            <a:off x="7406639" y="2944367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Comparison &amp; Evaluation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7406639" y="3291840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Metrics, confusion matrices, the winning model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" name="圆角矩形"/>
          <p:cNvSpPr>
            <a:spLocks/>
          </p:cNvSpPr>
          <p:nvPr/>
        </p:nvSpPr>
        <p:spPr>
          <a:xfrm rot="0">
            <a:off x="6309360" y="3886200"/>
            <a:ext cx="5394960" cy="896111"/>
          </a:xfrm>
          <a:prstGeom prst="roundRect">
            <a:avLst>
              <a:gd name="adj" fmla="val 612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0" name="矩形"/>
          <p:cNvSpPr>
            <a:spLocks/>
          </p:cNvSpPr>
          <p:nvPr/>
        </p:nvSpPr>
        <p:spPr>
          <a:xfrm rot="0">
            <a:off x="6473951" y="3886200"/>
            <a:ext cx="822959" cy="8961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07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" name="直线"/>
          <p:cNvSpPr>
            <a:spLocks/>
          </p:cNvSpPr>
          <p:nvPr/>
        </p:nvSpPr>
        <p:spPr>
          <a:xfrm rot="0">
            <a:off x="7269480" y="4014216"/>
            <a:ext cx="0" cy="640079"/>
          </a:xfrm>
          <a:prstGeom prst="line"/>
          <a:noFill/>
          <a:ln w="1270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62" name="矩形"/>
          <p:cNvSpPr>
            <a:spLocks/>
          </p:cNvSpPr>
          <p:nvPr/>
        </p:nvSpPr>
        <p:spPr>
          <a:xfrm rot="0">
            <a:off x="7406639" y="3995928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Deployment &amp; Roadmap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7406639" y="4343400"/>
            <a:ext cx="41605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Streamlit app, challenges, what's next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5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6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1570806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01 — BUSINESS CONTEXT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Project Objective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Build an automated NLP system that classifies customer reviews into Positive, Neutral, or Negative sentiment.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" name="圆角矩形"/>
          <p:cNvSpPr>
            <a:spLocks/>
          </p:cNvSpPr>
          <p:nvPr/>
        </p:nvSpPr>
        <p:spPr>
          <a:xfrm rot="0">
            <a:off x="457200" y="1783080"/>
            <a:ext cx="2679192" cy="3017519"/>
          </a:xfrm>
          <a:prstGeom prst="roundRect">
            <a:avLst>
              <a:gd name="adj" fmla="val 2731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74" name="椭圆"/>
          <p:cNvSpPr>
            <a:spLocks/>
          </p:cNvSpPr>
          <p:nvPr/>
        </p:nvSpPr>
        <p:spPr>
          <a:xfrm rot="0">
            <a:off x="685800" y="2011679"/>
            <a:ext cx="548640" cy="54864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75" name="矩形"/>
          <p:cNvSpPr>
            <a:spLocks/>
          </p:cNvSpPr>
          <p:nvPr/>
        </p:nvSpPr>
        <p:spPr>
          <a:xfrm rot="0">
            <a:off x="685800" y="2011679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 rot="0">
            <a:off x="658368" y="2743200"/>
            <a:ext cx="228600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Understand Feedback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矩形"/>
          <p:cNvSpPr>
            <a:spLocks/>
          </p:cNvSpPr>
          <p:nvPr/>
        </p:nvSpPr>
        <p:spPr>
          <a:xfrm rot="0">
            <a:off x="658368" y="3337560"/>
            <a:ext cx="2286000" cy="1371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Convert unstructured review text into structured, analyzable sentiment signal at scale.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圆角矩形"/>
          <p:cNvSpPr>
            <a:spLocks/>
          </p:cNvSpPr>
          <p:nvPr/>
        </p:nvSpPr>
        <p:spPr>
          <a:xfrm rot="0">
            <a:off x="3319272" y="1783080"/>
            <a:ext cx="2679192" cy="3017519"/>
          </a:xfrm>
          <a:prstGeom prst="roundRect">
            <a:avLst>
              <a:gd name="adj" fmla="val 2731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79" name="椭圆"/>
          <p:cNvSpPr>
            <a:spLocks/>
          </p:cNvSpPr>
          <p:nvPr/>
        </p:nvSpPr>
        <p:spPr>
          <a:xfrm rot="0">
            <a:off x="3547872" y="2011679"/>
            <a:ext cx="548640" cy="54864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80" name="矩形"/>
          <p:cNvSpPr>
            <a:spLocks/>
          </p:cNvSpPr>
          <p:nvPr/>
        </p:nvSpPr>
        <p:spPr>
          <a:xfrm rot="0">
            <a:off x="3547872" y="2011679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3520440" y="2743200"/>
            <a:ext cx="2285999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Detect Issues Early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" name="矩形"/>
          <p:cNvSpPr>
            <a:spLocks/>
          </p:cNvSpPr>
          <p:nvPr/>
        </p:nvSpPr>
        <p:spPr>
          <a:xfrm rot="0">
            <a:off x="3520440" y="3337560"/>
            <a:ext cx="2285999" cy="1371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Flag negative reviews the moment they are posted, before they compound into churn.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3" name="圆角矩形"/>
          <p:cNvSpPr>
            <a:spLocks/>
          </p:cNvSpPr>
          <p:nvPr/>
        </p:nvSpPr>
        <p:spPr>
          <a:xfrm rot="0">
            <a:off x="6181344" y="1783080"/>
            <a:ext cx="2679192" cy="3017519"/>
          </a:xfrm>
          <a:prstGeom prst="roundRect">
            <a:avLst>
              <a:gd name="adj" fmla="val 2731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84" name="椭圆"/>
          <p:cNvSpPr>
            <a:spLocks/>
          </p:cNvSpPr>
          <p:nvPr/>
        </p:nvSpPr>
        <p:spPr>
          <a:xfrm rot="0">
            <a:off x="6409944" y="2011679"/>
            <a:ext cx="548640" cy="54864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85" name="矩形"/>
          <p:cNvSpPr>
            <a:spLocks/>
          </p:cNvSpPr>
          <p:nvPr/>
        </p:nvSpPr>
        <p:spPr>
          <a:xfrm rot="0">
            <a:off x="6409944" y="2011679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矩形"/>
          <p:cNvSpPr>
            <a:spLocks/>
          </p:cNvSpPr>
          <p:nvPr/>
        </p:nvSpPr>
        <p:spPr>
          <a:xfrm rot="0">
            <a:off x="6382512" y="2743200"/>
            <a:ext cx="228600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Improve Satisfaction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6382512" y="3337560"/>
            <a:ext cx="2286000" cy="1371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 CX and product teams a prioritized, evidence-based view of what to fix.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圆角矩形"/>
          <p:cNvSpPr>
            <a:spLocks/>
          </p:cNvSpPr>
          <p:nvPr/>
        </p:nvSpPr>
        <p:spPr>
          <a:xfrm rot="0">
            <a:off x="9043416" y="1783080"/>
            <a:ext cx="2679192" cy="3017519"/>
          </a:xfrm>
          <a:prstGeom prst="roundRect">
            <a:avLst>
              <a:gd name="adj" fmla="val 2731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89" name="椭圆"/>
          <p:cNvSpPr>
            <a:spLocks/>
          </p:cNvSpPr>
          <p:nvPr/>
        </p:nvSpPr>
        <p:spPr>
          <a:xfrm rot="0">
            <a:off x="9272016" y="2011679"/>
            <a:ext cx="548640" cy="54864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9272016" y="2011679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9244584" y="2743200"/>
            <a:ext cx="2286000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Enable Data-Driven Decisions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2" name="矩形"/>
          <p:cNvSpPr>
            <a:spLocks/>
          </p:cNvSpPr>
          <p:nvPr/>
        </p:nvSpPr>
        <p:spPr>
          <a:xfrm rot="0">
            <a:off x="9244584" y="3337560"/>
            <a:ext cx="2286000" cy="1371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Feed sentiment trends into dashboards that guide roadmap and marketing decisions.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圆角矩形"/>
          <p:cNvSpPr>
            <a:spLocks/>
          </p:cNvSpPr>
          <p:nvPr/>
        </p:nvSpPr>
        <p:spPr>
          <a:xfrm rot="0">
            <a:off x="457200" y="5074920"/>
            <a:ext cx="11274552" cy="566927"/>
          </a:xfrm>
          <a:prstGeom prst="roundRect">
            <a:avLst>
              <a:gd name="adj" fmla="val 9675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94" name="矩形"/>
          <p:cNvSpPr>
            <a:spLocks/>
          </p:cNvSpPr>
          <p:nvPr/>
        </p:nvSpPr>
        <p:spPr>
          <a:xfrm rot="0">
            <a:off x="621791" y="5074920"/>
            <a:ext cx="10945368" cy="5669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TAKEAWAY   </a:t>
            </a: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end system must move a customer sentence to an actionable label in real time — not just power a one-off analysis notebook.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6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7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527397632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02 — DATA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2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Dataset Overview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3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1,440 real smartphone customer reviews, each with a title, star rating, and full review body.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圆角矩形"/>
          <p:cNvSpPr>
            <a:spLocks/>
          </p:cNvSpPr>
          <p:nvPr/>
        </p:nvSpPr>
        <p:spPr>
          <a:xfrm rot="0">
            <a:off x="457200" y="1737360"/>
            <a:ext cx="2560320" cy="1051559"/>
          </a:xfrm>
          <a:prstGeom prst="roundRect">
            <a:avLst>
              <a:gd name="adj" fmla="val 6087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105" name="矩形"/>
          <p:cNvSpPr>
            <a:spLocks/>
          </p:cNvSpPr>
          <p:nvPr/>
        </p:nvSpPr>
        <p:spPr>
          <a:xfrm rot="0">
            <a:off x="457200" y="1828800"/>
            <a:ext cx="256032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1,440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 rot="0">
            <a:off x="457200" y="2395728"/>
            <a:ext cx="25603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Total Reviews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圆角矩形"/>
          <p:cNvSpPr>
            <a:spLocks/>
          </p:cNvSpPr>
          <p:nvPr/>
        </p:nvSpPr>
        <p:spPr>
          <a:xfrm rot="0">
            <a:off x="3200400" y="1737360"/>
            <a:ext cx="2560319" cy="1051559"/>
          </a:xfrm>
          <a:prstGeom prst="roundRect">
            <a:avLst>
              <a:gd name="adj" fmla="val 6087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108" name="矩形"/>
          <p:cNvSpPr>
            <a:spLocks/>
          </p:cNvSpPr>
          <p:nvPr/>
        </p:nvSpPr>
        <p:spPr>
          <a:xfrm rot="0">
            <a:off x="3200400" y="1828800"/>
            <a:ext cx="256031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 rot="0">
            <a:off x="3200400" y="2395728"/>
            <a:ext cx="25603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Raw Columns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0" name="圆角矩形"/>
          <p:cNvSpPr>
            <a:spLocks/>
          </p:cNvSpPr>
          <p:nvPr/>
        </p:nvSpPr>
        <p:spPr>
          <a:xfrm rot="0">
            <a:off x="457200" y="2971799"/>
            <a:ext cx="2560320" cy="1051559"/>
          </a:xfrm>
          <a:prstGeom prst="roundRect">
            <a:avLst>
              <a:gd name="adj" fmla="val 6087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111" name="矩形"/>
          <p:cNvSpPr>
            <a:spLocks/>
          </p:cNvSpPr>
          <p:nvPr/>
        </p:nvSpPr>
        <p:spPr>
          <a:xfrm rot="0">
            <a:off x="457200" y="3063239"/>
            <a:ext cx="256032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– 5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457200" y="3630167"/>
            <a:ext cx="25603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Rating Range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圆角矩形"/>
          <p:cNvSpPr>
            <a:spLocks/>
          </p:cNvSpPr>
          <p:nvPr/>
        </p:nvSpPr>
        <p:spPr>
          <a:xfrm rot="0">
            <a:off x="3200400" y="2971799"/>
            <a:ext cx="2560319" cy="1051559"/>
          </a:xfrm>
          <a:prstGeom prst="roundRect">
            <a:avLst>
              <a:gd name="adj" fmla="val 6087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114" name="矩形"/>
          <p:cNvSpPr>
            <a:spLocks/>
          </p:cNvSpPr>
          <p:nvPr/>
        </p:nvSpPr>
        <p:spPr>
          <a:xfrm rot="0">
            <a:off x="3200400" y="3063239"/>
            <a:ext cx="256031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0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3200400" y="3630167"/>
            <a:ext cx="256031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Missing Values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6" name="矩形"/>
          <p:cNvSpPr>
            <a:spLocks/>
          </p:cNvSpPr>
          <p:nvPr/>
        </p:nvSpPr>
        <p:spPr>
          <a:xfrm rot="0">
            <a:off x="6126479" y="1691639"/>
            <a:ext cx="55778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Source Columns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17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6126479" y="2011679"/>
          <a:ext cx="5577840" cy="118872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463027"/>
                <a:gridCol w="4114787"/>
              </a:tblGrid>
              <a:tr h="297175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Column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Description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title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Short customer-written headline for the review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rating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Star rating given by the customer (1–5)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body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Full free-text customer review content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8" name="矩形"/>
          <p:cNvSpPr>
            <a:spLocks/>
          </p:cNvSpPr>
          <p:nvPr/>
        </p:nvSpPr>
        <p:spPr>
          <a:xfrm rot="0">
            <a:off x="6126479" y="3429000"/>
            <a:ext cx="55778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Rating → Sentiment Mapping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9" name="圆角矩形"/>
          <p:cNvSpPr>
            <a:spLocks/>
          </p:cNvSpPr>
          <p:nvPr/>
        </p:nvSpPr>
        <p:spPr>
          <a:xfrm rot="0">
            <a:off x="6126479" y="3749040"/>
            <a:ext cx="5577840" cy="502920"/>
          </a:xfrm>
          <a:prstGeom prst="roundRect">
            <a:avLst>
              <a:gd name="adj" fmla="val 909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20" name="矩形"/>
          <p:cNvSpPr>
            <a:spLocks/>
          </p:cNvSpPr>
          <p:nvPr/>
        </p:nvSpPr>
        <p:spPr>
          <a:xfrm rot="0">
            <a:off x="6309360" y="3749040"/>
            <a:ext cx="23774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 – 5 stars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1" name="圆角矩形"/>
          <p:cNvSpPr>
            <a:spLocks/>
          </p:cNvSpPr>
          <p:nvPr/>
        </p:nvSpPr>
        <p:spPr>
          <a:xfrm rot="0">
            <a:off x="9692640" y="3840480"/>
            <a:ext cx="1737360" cy="320040"/>
          </a:xfrm>
          <a:prstGeom prst="roundRect">
            <a:avLst>
              <a:gd name="adj" fmla="val 48569"/>
            </a:avLst>
          </a:prstGeom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22" name="矩形"/>
          <p:cNvSpPr>
            <a:spLocks/>
          </p:cNvSpPr>
          <p:nvPr/>
        </p:nvSpPr>
        <p:spPr>
          <a:xfrm rot="0">
            <a:off x="9692640" y="3840480"/>
            <a:ext cx="17373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Positive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3" name="圆角矩形"/>
          <p:cNvSpPr>
            <a:spLocks/>
          </p:cNvSpPr>
          <p:nvPr/>
        </p:nvSpPr>
        <p:spPr>
          <a:xfrm rot="0">
            <a:off x="6126479" y="4370832"/>
            <a:ext cx="5577840" cy="502920"/>
          </a:xfrm>
          <a:prstGeom prst="roundRect">
            <a:avLst>
              <a:gd name="adj" fmla="val 909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24" name="矩形"/>
          <p:cNvSpPr>
            <a:spLocks/>
          </p:cNvSpPr>
          <p:nvPr/>
        </p:nvSpPr>
        <p:spPr>
          <a:xfrm rot="0">
            <a:off x="6309360" y="4370832"/>
            <a:ext cx="23774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 stars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5" name="圆角矩形"/>
          <p:cNvSpPr>
            <a:spLocks/>
          </p:cNvSpPr>
          <p:nvPr/>
        </p:nvSpPr>
        <p:spPr>
          <a:xfrm rot="0">
            <a:off x="9692640" y="4462272"/>
            <a:ext cx="1737360" cy="320040"/>
          </a:xfrm>
          <a:prstGeom prst="roundRect">
            <a:avLst>
              <a:gd name="adj" fmla="val 48569"/>
            </a:avLst>
          </a:prstGeom>
          <a:solidFill>
            <a:srgbClr val="8A93A8"/>
          </a:solidFill>
          <a:ln w="12700" cmpd="sng" cap="flat">
            <a:noFill/>
            <a:prstDash val="solid"/>
            <a:miter/>
          </a:ln>
        </p:spPr>
      </p:sp>
      <p:sp>
        <p:nvSpPr>
          <p:cNvPr id="126" name="矩形"/>
          <p:cNvSpPr>
            <a:spLocks/>
          </p:cNvSpPr>
          <p:nvPr/>
        </p:nvSpPr>
        <p:spPr>
          <a:xfrm rot="0">
            <a:off x="9692640" y="4462272"/>
            <a:ext cx="17373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Neutral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7" name="圆角矩形"/>
          <p:cNvSpPr>
            <a:spLocks/>
          </p:cNvSpPr>
          <p:nvPr/>
        </p:nvSpPr>
        <p:spPr>
          <a:xfrm rot="0">
            <a:off x="6126479" y="4992623"/>
            <a:ext cx="5577840" cy="502919"/>
          </a:xfrm>
          <a:prstGeom prst="roundRect">
            <a:avLst>
              <a:gd name="adj" fmla="val 909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28" name="矩形"/>
          <p:cNvSpPr>
            <a:spLocks/>
          </p:cNvSpPr>
          <p:nvPr/>
        </p:nvSpPr>
        <p:spPr>
          <a:xfrm rot="0">
            <a:off x="6309360" y="4992623"/>
            <a:ext cx="237744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 – 2 stars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圆角矩形"/>
          <p:cNvSpPr>
            <a:spLocks/>
          </p:cNvSpPr>
          <p:nvPr/>
        </p:nvSpPr>
        <p:spPr>
          <a:xfrm rot="0">
            <a:off x="9692640" y="5084064"/>
            <a:ext cx="1737360" cy="320040"/>
          </a:xfrm>
          <a:prstGeom prst="roundRect">
            <a:avLst>
              <a:gd name="adj" fmla="val 48569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130" name="矩形"/>
          <p:cNvSpPr>
            <a:spLocks/>
          </p:cNvSpPr>
          <p:nvPr/>
        </p:nvSpPr>
        <p:spPr>
          <a:xfrm rot="0">
            <a:off x="9692640" y="5084064"/>
            <a:ext cx="173736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Negative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457200" y="5806440"/>
            <a:ext cx="11247120" cy="365759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2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3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4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5" name="圆角矩形"/>
          <p:cNvSpPr>
            <a:spLocks/>
          </p:cNvSpPr>
          <p:nvPr/>
        </p:nvSpPr>
        <p:spPr>
          <a:xfrm rot="0">
            <a:off x="457199" y="4207328"/>
            <a:ext cx="2560321" cy="1051558"/>
          </a:xfrm>
          <a:prstGeom prst="roundRect">
            <a:avLst>
              <a:gd name="adj" fmla="val 3722"/>
            </a:avLst>
          </a:prstGeom>
          <a:solidFill>
            <a:srgbClr val="FFFFFF"/>
          </a:solidFill>
          <a:ln w="12700" cmpd="sng" cap="flat">
            <a:solidFill>
              <a:srgbClr val="4472C4"/>
            </a:solidFill>
            <a:prstDash val="solid"/>
            <a:miter/>
          </a:ln>
        </p:spPr>
      </p:sp>
      <p:sp>
        <p:nvSpPr>
          <p:cNvPr id="136" name="矩形"/>
          <p:cNvSpPr>
            <a:spLocks/>
          </p:cNvSpPr>
          <p:nvPr/>
        </p:nvSpPr>
        <p:spPr>
          <a:xfrm rot="0">
            <a:off x="918208" y="4882895"/>
            <a:ext cx="1638300" cy="5772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10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DUPLICATE RECORDS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矩形"/>
          <p:cNvSpPr>
            <a:spLocks/>
          </p:cNvSpPr>
          <p:nvPr/>
        </p:nvSpPr>
        <p:spPr>
          <a:xfrm rot="0">
            <a:off x="1459774" y="4319056"/>
            <a:ext cx="952500" cy="5232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0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38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455023" y="5711908"/>
          <a:ext cx="5305695" cy="63681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1135"/>
                <a:gridCol w="1061135"/>
                <a:gridCol w="1061135"/>
                <a:gridCol w="1061135"/>
                <a:gridCol w="1061135"/>
              </a:tblGrid>
              <a:tr h="320035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Mean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Std Dev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Min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Median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Max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</a:tr>
              <a:tr h="316758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3.17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1.58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1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4.0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rgbClr val="000000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5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>
                    <a:lnL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" name="矩形"/>
          <p:cNvSpPr>
            <a:spLocks/>
          </p:cNvSpPr>
          <p:nvPr/>
        </p:nvSpPr>
        <p:spPr>
          <a:xfrm rot="0">
            <a:off x="3657600" y="5300428"/>
            <a:ext cx="2377440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Rating Summary Statistics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6126479" y="5748559"/>
            <a:ext cx="5577840" cy="586740"/>
          </a:xfrm>
          <a:prstGeom prst="rect"/>
          <a:solidFill>
            <a:srgbClr val="FFFFFF"/>
          </a:solidFill>
          <a:ln w="12700" cmpd="sng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000000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An average rating of 3.17 and a median of 4. This indicates that the dataset is slightly skewed toward positive reviews while still containing a good mix of negative and neutral opinions, making it suitable for sentiment analysis.</a:t>
            </a:r>
            <a:endParaRPr lang="zh-CN" altLang="en-US" sz="1100" b="0" i="1" u="none" strike="noStrike" kern="1200" cap="none" spc="0" baseline="0">
              <a:solidFill>
                <a:srgbClr val="000000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035747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02 — EXPLORATORY DATA ANALYSIS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5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Rating Distribution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6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How customers actually rated their smartphones — before any sentiment mapping is applied.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47" name="对象"/>
          <p:cNvGraphicFramePr>
            <a:graphicFrameLocks/>
          </p:cNvGraphicFramePr>
          <p:nvPr/>
        </p:nvGraphicFramePr>
        <p:xfrm>
          <a:off x="457200" y="1691639"/>
          <a:ext cx="6766559" cy="397764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8" name="圆角矩形"/>
          <p:cNvSpPr>
            <a:spLocks/>
          </p:cNvSpPr>
          <p:nvPr/>
        </p:nvSpPr>
        <p:spPr>
          <a:xfrm rot="0">
            <a:off x="7452360" y="1691639"/>
            <a:ext cx="4279392" cy="3977640"/>
          </a:xfrm>
          <a:prstGeom prst="roundRect">
            <a:avLst>
              <a:gd name="adj" fmla="val 1837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49" name="矩形"/>
          <p:cNvSpPr>
            <a:spLocks/>
          </p:cNvSpPr>
          <p:nvPr/>
        </p:nvSpPr>
        <p:spPr>
          <a:xfrm rot="0">
            <a:off x="7726680" y="1920240"/>
            <a:ext cx="3657600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Business Insight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0" name="椭圆"/>
          <p:cNvSpPr>
            <a:spLocks/>
          </p:cNvSpPr>
          <p:nvPr/>
        </p:nvSpPr>
        <p:spPr>
          <a:xfrm rot="0">
            <a:off x="7726680" y="2377440"/>
            <a:ext cx="109728" cy="109728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51" name="矩形"/>
          <p:cNvSpPr>
            <a:spLocks/>
          </p:cNvSpPr>
          <p:nvPr/>
        </p:nvSpPr>
        <p:spPr>
          <a:xfrm rot="0">
            <a:off x="7955280" y="2258568"/>
            <a:ext cx="356615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1★ and 5★ dominate — customers write reviews mostly at emotional extremes, a well-known review-platform bias.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2" name="椭圆"/>
          <p:cNvSpPr>
            <a:spLocks/>
          </p:cNvSpPr>
          <p:nvPr/>
        </p:nvSpPr>
        <p:spPr>
          <a:xfrm rot="0">
            <a:off x="7726680" y="3429000"/>
            <a:ext cx="109728" cy="109727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53" name="矩形"/>
          <p:cNvSpPr>
            <a:spLocks/>
          </p:cNvSpPr>
          <p:nvPr/>
        </p:nvSpPr>
        <p:spPr>
          <a:xfrm rot="0">
            <a:off x="7955280" y="3310127"/>
            <a:ext cx="356615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Only 199 reviews (13.8%) sit at 3★, foreshadowing a thin Neutral class for modeling.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4" name="椭圆"/>
          <p:cNvSpPr>
            <a:spLocks/>
          </p:cNvSpPr>
          <p:nvPr/>
        </p:nvSpPr>
        <p:spPr>
          <a:xfrm rot="0">
            <a:off x="7726680" y="4480560"/>
            <a:ext cx="109728" cy="109727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55" name="矩形"/>
          <p:cNvSpPr>
            <a:spLocks/>
          </p:cNvSpPr>
          <p:nvPr/>
        </p:nvSpPr>
        <p:spPr>
          <a:xfrm rot="0">
            <a:off x="7955280" y="4361688"/>
            <a:ext cx="356615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near-bimodal shape confirms this is a genuine mix of promoters and detractors — ideal for a 3-class classifier.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7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8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23237691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02 — EXPLORATORY DATA ANALYSIS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3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Sentiment Distribution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4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After mapping ratings to sentiment classes, the dataset skews positive with a real but thin Neutral segment.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65" name="对象"/>
          <p:cNvGraphicFramePr>
            <a:graphicFrameLocks/>
          </p:cNvGraphicFramePr>
          <p:nvPr/>
        </p:nvGraphicFramePr>
        <p:xfrm>
          <a:off x="457200" y="1691639"/>
          <a:ext cx="5486400" cy="397764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6" name="圆角矩形"/>
          <p:cNvSpPr>
            <a:spLocks/>
          </p:cNvSpPr>
          <p:nvPr/>
        </p:nvSpPr>
        <p:spPr>
          <a:xfrm rot="0">
            <a:off x="6309360" y="1828800"/>
            <a:ext cx="5394960" cy="868680"/>
          </a:xfrm>
          <a:prstGeom prst="roundRect">
            <a:avLst>
              <a:gd name="adj" fmla="val 736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67" name="圆角矩形"/>
          <p:cNvSpPr>
            <a:spLocks/>
          </p:cNvSpPr>
          <p:nvPr/>
        </p:nvSpPr>
        <p:spPr>
          <a:xfrm rot="0">
            <a:off x="6492240" y="2011679"/>
            <a:ext cx="128015" cy="502919"/>
          </a:xfrm>
          <a:prstGeom prst="roundRect">
            <a:avLst>
              <a:gd name="adj" fmla="val 16666"/>
            </a:avLst>
          </a:prstGeom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168" name="矩形"/>
          <p:cNvSpPr>
            <a:spLocks/>
          </p:cNvSpPr>
          <p:nvPr/>
        </p:nvSpPr>
        <p:spPr>
          <a:xfrm rot="0">
            <a:off x="6766559" y="1920240"/>
            <a:ext cx="22860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Positive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9" name="矩形"/>
          <p:cNvSpPr>
            <a:spLocks/>
          </p:cNvSpPr>
          <p:nvPr/>
        </p:nvSpPr>
        <p:spPr>
          <a:xfrm rot="0">
            <a:off x="6766559" y="2267712"/>
            <a:ext cx="22860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729 reviews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矩形"/>
          <p:cNvSpPr>
            <a:spLocks/>
          </p:cNvSpPr>
          <p:nvPr/>
        </p:nvSpPr>
        <p:spPr>
          <a:xfrm rot="0">
            <a:off x="9418320" y="1828800"/>
            <a:ext cx="210311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50.6%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圆角矩形"/>
          <p:cNvSpPr>
            <a:spLocks/>
          </p:cNvSpPr>
          <p:nvPr/>
        </p:nvSpPr>
        <p:spPr>
          <a:xfrm rot="0">
            <a:off x="6309360" y="2852928"/>
            <a:ext cx="5394960" cy="868680"/>
          </a:xfrm>
          <a:prstGeom prst="roundRect">
            <a:avLst>
              <a:gd name="adj" fmla="val 736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72" name="圆角矩形"/>
          <p:cNvSpPr>
            <a:spLocks/>
          </p:cNvSpPr>
          <p:nvPr/>
        </p:nvSpPr>
        <p:spPr>
          <a:xfrm rot="0">
            <a:off x="6492240" y="3035808"/>
            <a:ext cx="128015" cy="502920"/>
          </a:xfrm>
          <a:prstGeom prst="roundRect">
            <a:avLst>
              <a:gd name="adj" fmla="val 16666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173" name="矩形"/>
          <p:cNvSpPr>
            <a:spLocks/>
          </p:cNvSpPr>
          <p:nvPr/>
        </p:nvSpPr>
        <p:spPr>
          <a:xfrm rot="0">
            <a:off x="6766559" y="2944367"/>
            <a:ext cx="22860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Negative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4" name="矩形"/>
          <p:cNvSpPr>
            <a:spLocks/>
          </p:cNvSpPr>
          <p:nvPr/>
        </p:nvSpPr>
        <p:spPr>
          <a:xfrm rot="0">
            <a:off x="6766559" y="3291840"/>
            <a:ext cx="22860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512 reviews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 rot="0">
            <a:off x="9418320" y="2852928"/>
            <a:ext cx="210311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C0435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35.6%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圆角矩形"/>
          <p:cNvSpPr>
            <a:spLocks/>
          </p:cNvSpPr>
          <p:nvPr/>
        </p:nvSpPr>
        <p:spPr>
          <a:xfrm rot="0">
            <a:off x="6309360" y="3877055"/>
            <a:ext cx="5394960" cy="868680"/>
          </a:xfrm>
          <a:prstGeom prst="roundRect">
            <a:avLst>
              <a:gd name="adj" fmla="val 736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77" name="圆角矩形"/>
          <p:cNvSpPr>
            <a:spLocks/>
          </p:cNvSpPr>
          <p:nvPr/>
        </p:nvSpPr>
        <p:spPr>
          <a:xfrm rot="0">
            <a:off x="6492240" y="4059936"/>
            <a:ext cx="128015" cy="502920"/>
          </a:xfrm>
          <a:prstGeom prst="roundRect">
            <a:avLst>
              <a:gd name="adj" fmla="val 16666"/>
            </a:avLst>
          </a:prstGeom>
          <a:solidFill>
            <a:srgbClr val="8A93A8"/>
          </a:solidFill>
          <a:ln w="12700" cmpd="sng" cap="flat">
            <a:noFill/>
            <a:prstDash val="solid"/>
            <a:miter/>
          </a:ln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6766559" y="3968496"/>
            <a:ext cx="22860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Neutral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6766559" y="4315968"/>
            <a:ext cx="22860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199 reviews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9418320" y="3877055"/>
            <a:ext cx="210311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8A93A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13.8%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圆角矩形"/>
          <p:cNvSpPr>
            <a:spLocks/>
          </p:cNvSpPr>
          <p:nvPr/>
        </p:nvSpPr>
        <p:spPr>
          <a:xfrm rot="0">
            <a:off x="6309360" y="4983480"/>
            <a:ext cx="5394960" cy="566928"/>
          </a:xfrm>
          <a:prstGeom prst="roundRect">
            <a:avLst>
              <a:gd name="adj" fmla="val 9675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182" name="矩形"/>
          <p:cNvSpPr>
            <a:spLocks/>
          </p:cNvSpPr>
          <p:nvPr/>
        </p:nvSpPr>
        <p:spPr>
          <a:xfrm rot="0">
            <a:off x="6473951" y="4983480"/>
            <a:ext cx="5065775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TAKEAWAY   </a:t>
            </a: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Positive-skewed but genuinely 3-class data — with Neutral at only 13.8%, we anticipated class-imbalance challenges going into modeling.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3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4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5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723536530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02 — EXPLORATORY DATA ANALYSIS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0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Review Length &amp; Word Count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1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Understanding how much customers write helps size preprocessing and vectorization choices.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2" name="圆角矩形"/>
          <p:cNvSpPr>
            <a:spLocks/>
          </p:cNvSpPr>
          <p:nvPr/>
        </p:nvSpPr>
        <p:spPr>
          <a:xfrm rot="0">
            <a:off x="457200" y="1737360"/>
            <a:ext cx="5440679" cy="3931920"/>
          </a:xfrm>
          <a:prstGeom prst="roundRect">
            <a:avLst>
              <a:gd name="adj" fmla="val 1861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193" name="矩形"/>
          <p:cNvSpPr>
            <a:spLocks/>
          </p:cNvSpPr>
          <p:nvPr/>
        </p:nvSpPr>
        <p:spPr>
          <a:xfrm rot="0">
            <a:off x="731520" y="1920240"/>
            <a:ext cx="4937760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Review Length (characters)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4" name="矩形"/>
          <p:cNvSpPr>
            <a:spLocks/>
          </p:cNvSpPr>
          <p:nvPr/>
        </p:nvSpPr>
        <p:spPr>
          <a:xfrm rot="0">
            <a:off x="731520" y="2331720"/>
            <a:ext cx="2377440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333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5" name="矩形"/>
          <p:cNvSpPr>
            <a:spLocks/>
          </p:cNvSpPr>
          <p:nvPr/>
        </p:nvSpPr>
        <p:spPr>
          <a:xfrm rot="0">
            <a:off x="731520" y="2788920"/>
            <a:ext cx="23774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Mean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6" name="矩形"/>
          <p:cNvSpPr>
            <a:spLocks/>
          </p:cNvSpPr>
          <p:nvPr/>
        </p:nvSpPr>
        <p:spPr>
          <a:xfrm rot="0">
            <a:off x="3337560" y="2331720"/>
            <a:ext cx="2377440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277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矩形"/>
          <p:cNvSpPr>
            <a:spLocks/>
          </p:cNvSpPr>
          <p:nvPr/>
        </p:nvSpPr>
        <p:spPr>
          <a:xfrm rot="0">
            <a:off x="3337560" y="2788920"/>
            <a:ext cx="23774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Median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8" name="矩形"/>
          <p:cNvSpPr>
            <a:spLocks/>
          </p:cNvSpPr>
          <p:nvPr/>
        </p:nvSpPr>
        <p:spPr>
          <a:xfrm rot="0">
            <a:off x="731520" y="3246120"/>
            <a:ext cx="23774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9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矩形"/>
          <p:cNvSpPr>
            <a:spLocks/>
          </p:cNvSpPr>
          <p:nvPr/>
        </p:nvSpPr>
        <p:spPr>
          <a:xfrm rot="0">
            <a:off x="731520" y="3703319"/>
            <a:ext cx="23774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Min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0" name="矩形"/>
          <p:cNvSpPr>
            <a:spLocks/>
          </p:cNvSpPr>
          <p:nvPr/>
        </p:nvSpPr>
        <p:spPr>
          <a:xfrm rot="0">
            <a:off x="3337560" y="3246120"/>
            <a:ext cx="23774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2,536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矩形"/>
          <p:cNvSpPr>
            <a:spLocks/>
          </p:cNvSpPr>
          <p:nvPr/>
        </p:nvSpPr>
        <p:spPr>
          <a:xfrm rot="0">
            <a:off x="3337560" y="3703319"/>
            <a:ext cx="23774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Max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2" name="矩形"/>
          <p:cNvSpPr>
            <a:spLocks/>
          </p:cNvSpPr>
          <p:nvPr/>
        </p:nvSpPr>
        <p:spPr>
          <a:xfrm rot="0">
            <a:off x="731520" y="4251960"/>
            <a:ext cx="493776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Reviews range from a 9-character one-liner to a 2,536-character deep dive — a wide spread that TF-IDF and padding decisions must accommodate.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圆角矩形"/>
          <p:cNvSpPr>
            <a:spLocks/>
          </p:cNvSpPr>
          <p:nvPr/>
        </p:nvSpPr>
        <p:spPr>
          <a:xfrm rot="0">
            <a:off x="6263640" y="1737360"/>
            <a:ext cx="5468112" cy="3931920"/>
          </a:xfrm>
          <a:prstGeom prst="roundRect">
            <a:avLst>
              <a:gd name="adj" fmla="val 1861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204" name="矩形"/>
          <p:cNvSpPr>
            <a:spLocks/>
          </p:cNvSpPr>
          <p:nvPr/>
        </p:nvSpPr>
        <p:spPr>
          <a:xfrm rot="0">
            <a:off x="6537960" y="1920240"/>
            <a:ext cx="4937760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Word Count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5" name="矩形"/>
          <p:cNvSpPr>
            <a:spLocks/>
          </p:cNvSpPr>
          <p:nvPr/>
        </p:nvSpPr>
        <p:spPr>
          <a:xfrm rot="0">
            <a:off x="6537960" y="2331720"/>
            <a:ext cx="2377440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58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6" name="矩形"/>
          <p:cNvSpPr>
            <a:spLocks/>
          </p:cNvSpPr>
          <p:nvPr/>
        </p:nvSpPr>
        <p:spPr>
          <a:xfrm rot="0">
            <a:off x="6537960" y="2788920"/>
            <a:ext cx="23774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AEB9D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Mean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7" name="矩形"/>
          <p:cNvSpPr>
            <a:spLocks/>
          </p:cNvSpPr>
          <p:nvPr/>
        </p:nvSpPr>
        <p:spPr>
          <a:xfrm rot="0">
            <a:off x="9144000" y="2331720"/>
            <a:ext cx="2377439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49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8" name="矩形"/>
          <p:cNvSpPr>
            <a:spLocks/>
          </p:cNvSpPr>
          <p:nvPr/>
        </p:nvSpPr>
        <p:spPr>
          <a:xfrm rot="0">
            <a:off x="9144000" y="2788920"/>
            <a:ext cx="237743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AEB9D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Median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9" name="矩形"/>
          <p:cNvSpPr>
            <a:spLocks/>
          </p:cNvSpPr>
          <p:nvPr/>
        </p:nvSpPr>
        <p:spPr>
          <a:xfrm rot="0">
            <a:off x="6537960" y="3246120"/>
            <a:ext cx="23774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0" name="矩形"/>
          <p:cNvSpPr>
            <a:spLocks/>
          </p:cNvSpPr>
          <p:nvPr/>
        </p:nvSpPr>
        <p:spPr>
          <a:xfrm rot="0">
            <a:off x="6537960" y="3703319"/>
            <a:ext cx="23774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AEB9D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Min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矩形"/>
          <p:cNvSpPr>
            <a:spLocks/>
          </p:cNvSpPr>
          <p:nvPr/>
        </p:nvSpPr>
        <p:spPr>
          <a:xfrm rot="0">
            <a:off x="9144000" y="3246120"/>
            <a:ext cx="237743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391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2" name="矩形"/>
          <p:cNvSpPr>
            <a:spLocks/>
          </p:cNvSpPr>
          <p:nvPr/>
        </p:nvSpPr>
        <p:spPr>
          <a:xfrm rot="0">
            <a:off x="9144000" y="3703319"/>
            <a:ext cx="237743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AEB9D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Max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3" name="矩形"/>
          <p:cNvSpPr>
            <a:spLocks/>
          </p:cNvSpPr>
          <p:nvPr/>
        </p:nvSpPr>
        <p:spPr>
          <a:xfrm rot="0">
            <a:off x="6537960" y="4251960"/>
            <a:ext cx="4937760" cy="12801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DCE3F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Average review = 58 words, positively skewed (most reviews 30–70 words). Neutral reviews average 61.9 words — slightly longer than Positive (57.5) or Negative (58.0), suggesting hedged opinions need more words to explain.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4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5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16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763139464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02 — EXPLORATORY DATA ANALYSIS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Top Frequent Words &amp; Bigrams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2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47,786 total words after cleaning reveal exactly what customers talk about.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223" name="对象"/>
          <p:cNvGraphicFramePr>
            <a:graphicFrameLocks/>
          </p:cNvGraphicFramePr>
          <p:nvPr/>
        </p:nvGraphicFramePr>
        <p:xfrm>
          <a:off x="457200" y="1691639"/>
          <a:ext cx="5577840" cy="4023359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4" name="矩形"/>
          <p:cNvSpPr>
            <a:spLocks/>
          </p:cNvSpPr>
          <p:nvPr/>
        </p:nvSpPr>
        <p:spPr>
          <a:xfrm rot="0">
            <a:off x="6309360" y="1691639"/>
            <a:ext cx="53949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Discriminating Bigrams by Sentiment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5" name="圆角矩形"/>
          <p:cNvSpPr>
            <a:spLocks/>
          </p:cNvSpPr>
          <p:nvPr/>
        </p:nvSpPr>
        <p:spPr>
          <a:xfrm rot="0">
            <a:off x="6309360" y="2057400"/>
            <a:ext cx="2606040" cy="3611879"/>
          </a:xfrm>
          <a:prstGeom prst="roundRect">
            <a:avLst>
              <a:gd name="adj" fmla="val 2453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226" name="圆角矩形"/>
          <p:cNvSpPr>
            <a:spLocks/>
          </p:cNvSpPr>
          <p:nvPr/>
        </p:nvSpPr>
        <p:spPr>
          <a:xfrm rot="0">
            <a:off x="6492240" y="2240280"/>
            <a:ext cx="1097279" cy="292607"/>
          </a:xfrm>
          <a:prstGeom prst="roundRect">
            <a:avLst>
              <a:gd name="adj" fmla="val 50000"/>
            </a:avLst>
          </a:prstGeom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227" name="矩形"/>
          <p:cNvSpPr>
            <a:spLocks/>
          </p:cNvSpPr>
          <p:nvPr/>
        </p:nvSpPr>
        <p:spPr>
          <a:xfrm rot="0">
            <a:off x="6492240" y="2240280"/>
            <a:ext cx="109727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POSITIVE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8" name="矩形"/>
          <p:cNvSpPr>
            <a:spLocks/>
          </p:cNvSpPr>
          <p:nvPr/>
        </p:nvSpPr>
        <p:spPr>
          <a:xfrm rot="0">
            <a:off x="6492240" y="2697480"/>
            <a:ext cx="224027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"battery life"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9" name="矩形"/>
          <p:cNvSpPr>
            <a:spLocks/>
          </p:cNvSpPr>
          <p:nvPr/>
        </p:nvSpPr>
        <p:spPr>
          <a:xfrm rot="0">
            <a:off x="6492240" y="3355848"/>
            <a:ext cx="224027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"camera quality"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0" name="矩形"/>
          <p:cNvSpPr>
            <a:spLocks/>
          </p:cNvSpPr>
          <p:nvPr/>
        </p:nvSpPr>
        <p:spPr>
          <a:xfrm rot="0">
            <a:off x="6492240" y="4014216"/>
            <a:ext cx="224027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"good phone"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1" name="矩形"/>
          <p:cNvSpPr>
            <a:spLocks/>
          </p:cNvSpPr>
          <p:nvPr/>
        </p:nvSpPr>
        <p:spPr>
          <a:xfrm rot="0">
            <a:off x="6492240" y="4672584"/>
            <a:ext cx="2240279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"value money"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2" name="圆角矩形"/>
          <p:cNvSpPr>
            <a:spLocks/>
          </p:cNvSpPr>
          <p:nvPr/>
        </p:nvSpPr>
        <p:spPr>
          <a:xfrm rot="0">
            <a:off x="9098280" y="2057400"/>
            <a:ext cx="2606040" cy="3611879"/>
          </a:xfrm>
          <a:prstGeom prst="roundRect">
            <a:avLst>
              <a:gd name="adj" fmla="val 2453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233" name="圆角矩形"/>
          <p:cNvSpPr>
            <a:spLocks/>
          </p:cNvSpPr>
          <p:nvPr/>
        </p:nvSpPr>
        <p:spPr>
          <a:xfrm rot="0">
            <a:off x="9281160" y="2240280"/>
            <a:ext cx="1097280" cy="292607"/>
          </a:xfrm>
          <a:prstGeom prst="roundRect">
            <a:avLst>
              <a:gd name="adj" fmla="val 50000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234" name="矩形"/>
          <p:cNvSpPr>
            <a:spLocks/>
          </p:cNvSpPr>
          <p:nvPr/>
        </p:nvSpPr>
        <p:spPr>
          <a:xfrm rot="0">
            <a:off x="9281160" y="2240280"/>
            <a:ext cx="1097280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NEGATIVE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5" name="矩形"/>
          <p:cNvSpPr>
            <a:spLocks/>
          </p:cNvSpPr>
          <p:nvPr/>
        </p:nvSpPr>
        <p:spPr>
          <a:xfrm rot="0">
            <a:off x="9281160" y="2697480"/>
            <a:ext cx="224028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"dont buy"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6" name="矩形"/>
          <p:cNvSpPr>
            <a:spLocks/>
          </p:cNvSpPr>
          <p:nvPr/>
        </p:nvSpPr>
        <p:spPr>
          <a:xfrm rot="0">
            <a:off x="9281160" y="3355848"/>
            <a:ext cx="224028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"worst phone"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7" name="矩形"/>
          <p:cNvSpPr>
            <a:spLocks/>
          </p:cNvSpPr>
          <p:nvPr/>
        </p:nvSpPr>
        <p:spPr>
          <a:xfrm rot="0">
            <a:off x="9281160" y="4014216"/>
            <a:ext cx="224028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"waste money"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8" name="矩形"/>
          <p:cNvSpPr>
            <a:spLocks/>
          </p:cNvSpPr>
          <p:nvPr/>
        </p:nvSpPr>
        <p:spPr>
          <a:xfrm rot="0">
            <a:off x="9281160" y="4672584"/>
            <a:ext cx="2240280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"quality poor"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9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0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1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176181326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02 — EXPLORATORY DATA ANALYSIS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6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Vocabulary Themes at a Glance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7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AEB9D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47,786 words, one dominant story: this is a phone, and customers judge it on camera, battery, and value.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8" name="矩形"/>
          <p:cNvSpPr>
            <a:spLocks/>
          </p:cNvSpPr>
          <p:nvPr/>
        </p:nvSpPr>
        <p:spPr>
          <a:xfrm rot="0">
            <a:off x="457200" y="196596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phone</a:t>
            </a:r>
            <a:endParaRPr lang="zh-CN" altLang="en-US" sz="5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9" name="矩形"/>
          <p:cNvSpPr>
            <a:spLocks/>
          </p:cNvSpPr>
          <p:nvPr/>
        </p:nvSpPr>
        <p:spPr>
          <a:xfrm rot="0">
            <a:off x="3246120" y="178308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6C8CE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good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0" name="矩形"/>
          <p:cNvSpPr>
            <a:spLocks/>
          </p:cNvSpPr>
          <p:nvPr/>
        </p:nvSpPr>
        <p:spPr>
          <a:xfrm rot="0">
            <a:off x="5120640" y="2377440"/>
            <a:ext cx="292607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600" b="1" i="0" u="none" strike="noStrike" kern="1200" cap="none" spc="0" baseline="0">
                <a:solidFill>
                  <a:srgbClr val="9AB0E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camera</a:t>
            </a:r>
            <a:endParaRPr lang="zh-CN" altLang="en-US" sz="4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1" name="矩形"/>
          <p:cNvSpPr>
            <a:spLocks/>
          </p:cNvSpPr>
          <p:nvPr/>
        </p:nvSpPr>
        <p:spPr>
          <a:xfrm rot="0">
            <a:off x="594360" y="324612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battery</a:t>
            </a:r>
            <a:endParaRPr lang="zh-CN" altLang="en-US" sz="4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2" name="矩形"/>
          <p:cNvSpPr>
            <a:spLocks/>
          </p:cNvSpPr>
          <p:nvPr/>
        </p:nvSpPr>
        <p:spPr>
          <a:xfrm rot="0">
            <a:off x="2926080" y="342900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samsung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3" name="矩形"/>
          <p:cNvSpPr>
            <a:spLocks/>
          </p:cNvSpPr>
          <p:nvPr/>
        </p:nvSpPr>
        <p:spPr>
          <a:xfrm rot="0">
            <a:off x="5257800" y="3794760"/>
            <a:ext cx="292608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6C8CE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quality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4" name="矩形"/>
          <p:cNvSpPr>
            <a:spLocks/>
          </p:cNvSpPr>
          <p:nvPr/>
        </p:nvSpPr>
        <p:spPr>
          <a:xfrm rot="0">
            <a:off x="8046719" y="1920240"/>
            <a:ext cx="2926079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9AB0E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mobile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5" name="矩形"/>
          <p:cNvSpPr>
            <a:spLocks/>
          </p:cNvSpPr>
          <p:nvPr/>
        </p:nvSpPr>
        <p:spPr>
          <a:xfrm rot="0">
            <a:off x="7680960" y="3108960"/>
            <a:ext cx="292607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price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6" name="矩形"/>
          <p:cNvSpPr>
            <a:spLocks/>
          </p:cNvSpPr>
          <p:nvPr/>
        </p:nvSpPr>
        <p:spPr>
          <a:xfrm rot="0">
            <a:off x="9692640" y="3383279"/>
            <a:ext cx="2926079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display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7" name="矩形"/>
          <p:cNvSpPr>
            <a:spLocks/>
          </p:cNvSpPr>
          <p:nvPr/>
        </p:nvSpPr>
        <p:spPr>
          <a:xfrm rot="0">
            <a:off x="822960" y="443484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6C8CE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dont buy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8" name="矩形"/>
          <p:cNvSpPr>
            <a:spLocks/>
          </p:cNvSpPr>
          <p:nvPr/>
        </p:nvSpPr>
        <p:spPr>
          <a:xfrm rot="0">
            <a:off x="3246120" y="461772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9AB0E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value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9" name="矩形"/>
          <p:cNvSpPr>
            <a:spLocks/>
          </p:cNvSpPr>
          <p:nvPr/>
        </p:nvSpPr>
        <p:spPr>
          <a:xfrm rot="0">
            <a:off x="8778240" y="434340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worst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0" name="矩形"/>
          <p:cNvSpPr>
            <a:spLocks/>
          </p:cNvSpPr>
          <p:nvPr/>
        </p:nvSpPr>
        <p:spPr>
          <a:xfrm rot="0">
            <a:off x="6035039" y="4709160"/>
            <a:ext cx="292608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screen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1" name="矩形"/>
          <p:cNvSpPr>
            <a:spLocks/>
          </p:cNvSpPr>
          <p:nvPr/>
        </p:nvSpPr>
        <p:spPr>
          <a:xfrm rot="0">
            <a:off x="10241281" y="2331720"/>
            <a:ext cx="292608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6C8CE0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life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2" name="矩形"/>
          <p:cNvSpPr>
            <a:spLocks/>
          </p:cNvSpPr>
          <p:nvPr/>
        </p:nvSpPr>
        <p:spPr>
          <a:xfrm rot="0">
            <a:off x="2011679" y="4892040"/>
            <a:ext cx="292608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9AB0E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3" name="圆角矩形"/>
          <p:cNvSpPr>
            <a:spLocks/>
          </p:cNvSpPr>
          <p:nvPr/>
        </p:nvSpPr>
        <p:spPr>
          <a:xfrm rot="0">
            <a:off x="457200" y="5715000"/>
            <a:ext cx="11274552" cy="658367"/>
          </a:xfrm>
          <a:prstGeom prst="roundRect">
            <a:avLst>
              <a:gd name="adj" fmla="val 9722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264" name="矩形"/>
          <p:cNvSpPr>
            <a:spLocks/>
          </p:cNvSpPr>
          <p:nvPr/>
        </p:nvSpPr>
        <p:spPr>
          <a:xfrm rot="0">
            <a:off x="640080" y="5715000"/>
            <a:ext cx="10881359" cy="65836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TAKEAWAY   </a:t>
            </a:r>
            <a:r>
              <a:rPr lang="en-US" altLang="zh-CN" sz="1100" b="0" i="0" u="none" strike="noStrike" kern="1200" cap="none" spc="0" baseline="0">
                <a:solidFill>
                  <a:srgbClr val="E3E8F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Product-attribute words (camera, battery, display) co-occur with both praise and complaints — signaling the need for future aspect-based sentiment analysis, not just overall polarity.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5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6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7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127388327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03 — TEXT PREPROCESSING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2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Text Cleaning Pipeline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3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Nine sequential steps transform noisy customer language into consistent, model-ready tokens.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4" name="圆角矩形"/>
          <p:cNvSpPr>
            <a:spLocks/>
          </p:cNvSpPr>
          <p:nvPr/>
        </p:nvSpPr>
        <p:spPr>
          <a:xfrm rot="0">
            <a:off x="457200" y="1691639"/>
            <a:ext cx="3639312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275" name="椭圆"/>
          <p:cNvSpPr>
            <a:spLocks/>
          </p:cNvSpPr>
          <p:nvPr/>
        </p:nvSpPr>
        <p:spPr>
          <a:xfrm rot="0">
            <a:off x="621791" y="1856232"/>
            <a:ext cx="365760" cy="365760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276" name="矩形"/>
          <p:cNvSpPr>
            <a:spLocks/>
          </p:cNvSpPr>
          <p:nvPr/>
        </p:nvSpPr>
        <p:spPr>
          <a:xfrm rot="0">
            <a:off x="621791" y="1856232"/>
            <a:ext cx="36576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7" name="矩形"/>
          <p:cNvSpPr>
            <a:spLocks/>
          </p:cNvSpPr>
          <p:nvPr/>
        </p:nvSpPr>
        <p:spPr>
          <a:xfrm rot="0">
            <a:off x="1097280" y="1801368"/>
            <a:ext cx="286207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Lowercase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8" name="矩形"/>
          <p:cNvSpPr>
            <a:spLocks/>
          </p:cNvSpPr>
          <p:nvPr/>
        </p:nvSpPr>
        <p:spPr>
          <a:xfrm rot="0">
            <a:off x="621791" y="2258568"/>
            <a:ext cx="3319271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Treats "Good" and "good" as the same token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9" name="矩形"/>
          <p:cNvSpPr>
            <a:spLocks/>
          </p:cNvSpPr>
          <p:nvPr/>
        </p:nvSpPr>
        <p:spPr>
          <a:xfrm rot="0">
            <a:off x="4105656" y="2057400"/>
            <a:ext cx="1554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0" name="圆角矩形"/>
          <p:cNvSpPr>
            <a:spLocks/>
          </p:cNvSpPr>
          <p:nvPr/>
        </p:nvSpPr>
        <p:spPr>
          <a:xfrm rot="0">
            <a:off x="4233672" y="1691639"/>
            <a:ext cx="3639312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281" name="椭圆"/>
          <p:cNvSpPr>
            <a:spLocks/>
          </p:cNvSpPr>
          <p:nvPr/>
        </p:nvSpPr>
        <p:spPr>
          <a:xfrm rot="0">
            <a:off x="4398264" y="1856232"/>
            <a:ext cx="365759" cy="365760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282" name="矩形"/>
          <p:cNvSpPr>
            <a:spLocks/>
          </p:cNvSpPr>
          <p:nvPr/>
        </p:nvSpPr>
        <p:spPr>
          <a:xfrm rot="0">
            <a:off x="4398264" y="1856232"/>
            <a:ext cx="36575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3" name="矩形"/>
          <p:cNvSpPr>
            <a:spLocks/>
          </p:cNvSpPr>
          <p:nvPr/>
        </p:nvSpPr>
        <p:spPr>
          <a:xfrm rot="0">
            <a:off x="4873752" y="1801368"/>
            <a:ext cx="286207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 URLs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4" name="矩形"/>
          <p:cNvSpPr>
            <a:spLocks/>
          </p:cNvSpPr>
          <p:nvPr/>
        </p:nvSpPr>
        <p:spPr>
          <a:xfrm rot="0">
            <a:off x="4398264" y="2258568"/>
            <a:ext cx="331927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Strips links that add no sentiment signal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5" name="矩形"/>
          <p:cNvSpPr>
            <a:spLocks/>
          </p:cNvSpPr>
          <p:nvPr/>
        </p:nvSpPr>
        <p:spPr>
          <a:xfrm rot="0">
            <a:off x="7882128" y="2057400"/>
            <a:ext cx="1554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6" name="圆角矩形"/>
          <p:cNvSpPr>
            <a:spLocks/>
          </p:cNvSpPr>
          <p:nvPr/>
        </p:nvSpPr>
        <p:spPr>
          <a:xfrm rot="0">
            <a:off x="8010144" y="1691639"/>
            <a:ext cx="3639311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287" name="椭圆"/>
          <p:cNvSpPr>
            <a:spLocks/>
          </p:cNvSpPr>
          <p:nvPr/>
        </p:nvSpPr>
        <p:spPr>
          <a:xfrm rot="0">
            <a:off x="8174736" y="1856232"/>
            <a:ext cx="365759" cy="365760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288" name="矩形"/>
          <p:cNvSpPr>
            <a:spLocks/>
          </p:cNvSpPr>
          <p:nvPr/>
        </p:nvSpPr>
        <p:spPr>
          <a:xfrm rot="0">
            <a:off x="8174736" y="1856232"/>
            <a:ext cx="36575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9" name="矩形"/>
          <p:cNvSpPr>
            <a:spLocks/>
          </p:cNvSpPr>
          <p:nvPr/>
        </p:nvSpPr>
        <p:spPr>
          <a:xfrm rot="0">
            <a:off x="8650224" y="1801368"/>
            <a:ext cx="286207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 HTML tags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0" name="矩形"/>
          <p:cNvSpPr>
            <a:spLocks/>
          </p:cNvSpPr>
          <p:nvPr/>
        </p:nvSpPr>
        <p:spPr>
          <a:xfrm rot="0">
            <a:off x="8174736" y="2258568"/>
            <a:ext cx="331927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Cleans markup leaked from web-scraped reviews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1" name="圆角矩形"/>
          <p:cNvSpPr>
            <a:spLocks/>
          </p:cNvSpPr>
          <p:nvPr/>
        </p:nvSpPr>
        <p:spPr>
          <a:xfrm rot="0">
            <a:off x="457200" y="3090672"/>
            <a:ext cx="3639312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292" name="椭圆"/>
          <p:cNvSpPr>
            <a:spLocks/>
          </p:cNvSpPr>
          <p:nvPr/>
        </p:nvSpPr>
        <p:spPr>
          <a:xfrm rot="0">
            <a:off x="621791" y="3255264"/>
            <a:ext cx="365760" cy="36575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293" name="矩形"/>
          <p:cNvSpPr>
            <a:spLocks/>
          </p:cNvSpPr>
          <p:nvPr/>
        </p:nvSpPr>
        <p:spPr>
          <a:xfrm rot="0">
            <a:off x="621791" y="3255264"/>
            <a:ext cx="36576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4" name="矩形"/>
          <p:cNvSpPr>
            <a:spLocks/>
          </p:cNvSpPr>
          <p:nvPr/>
        </p:nvSpPr>
        <p:spPr>
          <a:xfrm rot="0">
            <a:off x="1097280" y="3200400"/>
            <a:ext cx="286207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 punctuation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5" name="矩形"/>
          <p:cNvSpPr>
            <a:spLocks/>
          </p:cNvSpPr>
          <p:nvPr/>
        </p:nvSpPr>
        <p:spPr>
          <a:xfrm rot="0">
            <a:off x="621791" y="3657600"/>
            <a:ext cx="3319271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Removes symbols that fragment tokens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6" name="矩形"/>
          <p:cNvSpPr>
            <a:spLocks/>
          </p:cNvSpPr>
          <p:nvPr/>
        </p:nvSpPr>
        <p:spPr>
          <a:xfrm rot="0">
            <a:off x="4105656" y="3456431"/>
            <a:ext cx="1554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7" name="圆角矩形"/>
          <p:cNvSpPr>
            <a:spLocks/>
          </p:cNvSpPr>
          <p:nvPr/>
        </p:nvSpPr>
        <p:spPr>
          <a:xfrm rot="0">
            <a:off x="4233672" y="3090672"/>
            <a:ext cx="3639312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298" name="椭圆"/>
          <p:cNvSpPr>
            <a:spLocks/>
          </p:cNvSpPr>
          <p:nvPr/>
        </p:nvSpPr>
        <p:spPr>
          <a:xfrm rot="0">
            <a:off x="4398264" y="3255264"/>
            <a:ext cx="365759" cy="36575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299" name="矩形"/>
          <p:cNvSpPr>
            <a:spLocks/>
          </p:cNvSpPr>
          <p:nvPr/>
        </p:nvSpPr>
        <p:spPr>
          <a:xfrm rot="0">
            <a:off x="4398264" y="3255264"/>
            <a:ext cx="36575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0" name="矩形"/>
          <p:cNvSpPr>
            <a:spLocks/>
          </p:cNvSpPr>
          <p:nvPr/>
        </p:nvSpPr>
        <p:spPr>
          <a:xfrm rot="0">
            <a:off x="4873752" y="3200400"/>
            <a:ext cx="286207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 numbers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1" name="矩形"/>
          <p:cNvSpPr>
            <a:spLocks/>
          </p:cNvSpPr>
          <p:nvPr/>
        </p:nvSpPr>
        <p:spPr>
          <a:xfrm rot="0">
            <a:off x="4398264" y="3657600"/>
            <a:ext cx="331927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Drops digits (model sizes, prices) as noise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2" name="矩形"/>
          <p:cNvSpPr>
            <a:spLocks/>
          </p:cNvSpPr>
          <p:nvPr/>
        </p:nvSpPr>
        <p:spPr>
          <a:xfrm rot="0">
            <a:off x="7882128" y="3456431"/>
            <a:ext cx="1554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3" name="圆角矩形"/>
          <p:cNvSpPr>
            <a:spLocks/>
          </p:cNvSpPr>
          <p:nvPr/>
        </p:nvSpPr>
        <p:spPr>
          <a:xfrm rot="0">
            <a:off x="8010144" y="3090672"/>
            <a:ext cx="3639311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04" name="椭圆"/>
          <p:cNvSpPr>
            <a:spLocks/>
          </p:cNvSpPr>
          <p:nvPr/>
        </p:nvSpPr>
        <p:spPr>
          <a:xfrm rot="0">
            <a:off x="8174736" y="3255264"/>
            <a:ext cx="365759" cy="36575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305" name="矩形"/>
          <p:cNvSpPr>
            <a:spLocks/>
          </p:cNvSpPr>
          <p:nvPr/>
        </p:nvSpPr>
        <p:spPr>
          <a:xfrm rot="0">
            <a:off x="8174736" y="3255264"/>
            <a:ext cx="36575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6" name="矩形"/>
          <p:cNvSpPr>
            <a:spLocks/>
          </p:cNvSpPr>
          <p:nvPr/>
        </p:nvSpPr>
        <p:spPr>
          <a:xfrm rot="0">
            <a:off x="8650224" y="3200400"/>
            <a:ext cx="2862072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 special chars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7" name="矩形"/>
          <p:cNvSpPr>
            <a:spLocks/>
          </p:cNvSpPr>
          <p:nvPr/>
        </p:nvSpPr>
        <p:spPr>
          <a:xfrm rot="0">
            <a:off x="8174736" y="3657600"/>
            <a:ext cx="331927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Strips emojis / non-alphabetic symbols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8" name="圆角矩形"/>
          <p:cNvSpPr>
            <a:spLocks/>
          </p:cNvSpPr>
          <p:nvPr/>
        </p:nvSpPr>
        <p:spPr>
          <a:xfrm rot="0">
            <a:off x="457200" y="4489704"/>
            <a:ext cx="3639312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09" name="椭圆"/>
          <p:cNvSpPr>
            <a:spLocks/>
          </p:cNvSpPr>
          <p:nvPr/>
        </p:nvSpPr>
        <p:spPr>
          <a:xfrm rot="0">
            <a:off x="621791" y="4654296"/>
            <a:ext cx="365760" cy="365760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310" name="矩形"/>
          <p:cNvSpPr>
            <a:spLocks/>
          </p:cNvSpPr>
          <p:nvPr/>
        </p:nvSpPr>
        <p:spPr>
          <a:xfrm rot="0">
            <a:off x="621791" y="4654296"/>
            <a:ext cx="36576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1" name="矩形"/>
          <p:cNvSpPr>
            <a:spLocks/>
          </p:cNvSpPr>
          <p:nvPr/>
        </p:nvSpPr>
        <p:spPr>
          <a:xfrm rot="0">
            <a:off x="1097280" y="4599432"/>
            <a:ext cx="286207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 stopwords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2" name="矩形"/>
          <p:cNvSpPr>
            <a:spLocks/>
          </p:cNvSpPr>
          <p:nvPr/>
        </p:nvSpPr>
        <p:spPr>
          <a:xfrm rot="0">
            <a:off x="621791" y="5056632"/>
            <a:ext cx="3319271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Removes "the", "is", "and" — low signal words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3" name="矩形"/>
          <p:cNvSpPr>
            <a:spLocks/>
          </p:cNvSpPr>
          <p:nvPr/>
        </p:nvSpPr>
        <p:spPr>
          <a:xfrm rot="0">
            <a:off x="4105656" y="4855464"/>
            <a:ext cx="1554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4" name="圆角矩形"/>
          <p:cNvSpPr>
            <a:spLocks/>
          </p:cNvSpPr>
          <p:nvPr/>
        </p:nvSpPr>
        <p:spPr>
          <a:xfrm rot="0">
            <a:off x="4233672" y="4489704"/>
            <a:ext cx="3639312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15" name="椭圆"/>
          <p:cNvSpPr>
            <a:spLocks/>
          </p:cNvSpPr>
          <p:nvPr/>
        </p:nvSpPr>
        <p:spPr>
          <a:xfrm rot="0">
            <a:off x="4398264" y="4654296"/>
            <a:ext cx="365759" cy="365760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316" name="矩形"/>
          <p:cNvSpPr>
            <a:spLocks/>
          </p:cNvSpPr>
          <p:nvPr/>
        </p:nvSpPr>
        <p:spPr>
          <a:xfrm rot="0">
            <a:off x="4398264" y="4654296"/>
            <a:ext cx="36575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7" name="矩形"/>
          <p:cNvSpPr>
            <a:spLocks/>
          </p:cNvSpPr>
          <p:nvPr/>
        </p:nvSpPr>
        <p:spPr>
          <a:xfrm rot="0">
            <a:off x="4873752" y="4599432"/>
            <a:ext cx="286207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Tokenization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8" name="矩形"/>
          <p:cNvSpPr>
            <a:spLocks/>
          </p:cNvSpPr>
          <p:nvPr/>
        </p:nvSpPr>
        <p:spPr>
          <a:xfrm rot="0">
            <a:off x="4398264" y="5056632"/>
            <a:ext cx="331927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Splits text into individual word units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9" name="矩形"/>
          <p:cNvSpPr>
            <a:spLocks/>
          </p:cNvSpPr>
          <p:nvPr/>
        </p:nvSpPr>
        <p:spPr>
          <a:xfrm rot="0">
            <a:off x="7882128" y="4855464"/>
            <a:ext cx="155448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0" name="圆角矩形"/>
          <p:cNvSpPr>
            <a:spLocks/>
          </p:cNvSpPr>
          <p:nvPr/>
        </p:nvSpPr>
        <p:spPr>
          <a:xfrm rot="0">
            <a:off x="8010144" y="4489704"/>
            <a:ext cx="3639311" cy="1234439"/>
          </a:xfrm>
          <a:prstGeom prst="roundRect">
            <a:avLst>
              <a:gd name="adj" fmla="val 5185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21" name="椭圆"/>
          <p:cNvSpPr>
            <a:spLocks/>
          </p:cNvSpPr>
          <p:nvPr/>
        </p:nvSpPr>
        <p:spPr>
          <a:xfrm rot="0">
            <a:off x="8174736" y="4654296"/>
            <a:ext cx="365759" cy="365760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322" name="矩形"/>
          <p:cNvSpPr>
            <a:spLocks/>
          </p:cNvSpPr>
          <p:nvPr/>
        </p:nvSpPr>
        <p:spPr>
          <a:xfrm rot="0">
            <a:off x="8174736" y="4654296"/>
            <a:ext cx="365759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9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3" name="矩形"/>
          <p:cNvSpPr>
            <a:spLocks/>
          </p:cNvSpPr>
          <p:nvPr/>
        </p:nvSpPr>
        <p:spPr>
          <a:xfrm rot="0">
            <a:off x="8650224" y="4599432"/>
            <a:ext cx="2862072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Lemmatization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4" name="矩形"/>
          <p:cNvSpPr>
            <a:spLocks/>
          </p:cNvSpPr>
          <p:nvPr/>
        </p:nvSpPr>
        <p:spPr>
          <a:xfrm rot="0">
            <a:off x="8174736" y="5056632"/>
            <a:ext cx="331927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Reduces words to base form ("running" → "run")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25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26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27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744346808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03 — TEXT PREPROCESSING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2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Preprocessing in Action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3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real review from the dataset, traced end-to-end through the cleaning pipeline.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4" name="圆角矩形"/>
          <p:cNvSpPr>
            <a:spLocks/>
          </p:cNvSpPr>
          <p:nvPr/>
        </p:nvSpPr>
        <p:spPr>
          <a:xfrm rot="0">
            <a:off x="457200" y="1783080"/>
            <a:ext cx="11274552" cy="1417320"/>
          </a:xfrm>
          <a:prstGeom prst="roundRect">
            <a:avLst>
              <a:gd name="adj" fmla="val 516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35" name="矩形"/>
          <p:cNvSpPr>
            <a:spLocks/>
          </p:cNvSpPr>
          <p:nvPr/>
        </p:nvSpPr>
        <p:spPr>
          <a:xfrm rot="0">
            <a:off x="731520" y="1920240"/>
            <a:ext cx="10698479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5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ORIGINAL REVIEW  (title: "Horrible product", rating: 1★)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6" name="矩形"/>
          <p:cNvSpPr>
            <a:spLocks/>
          </p:cNvSpPr>
          <p:nvPr/>
        </p:nvSpPr>
        <p:spPr>
          <a:xfrm rot="0">
            <a:off x="731520" y="2212848"/>
            <a:ext cx="10698479" cy="8686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“Horrible product. Very disappointed with the overall performance from Samsung.”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7" name="椭圆"/>
          <p:cNvSpPr>
            <a:spLocks/>
          </p:cNvSpPr>
          <p:nvPr/>
        </p:nvSpPr>
        <p:spPr>
          <a:xfrm rot="0">
            <a:off x="5733288" y="3310127"/>
            <a:ext cx="731519" cy="45720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338" name="矩形"/>
          <p:cNvSpPr>
            <a:spLocks/>
          </p:cNvSpPr>
          <p:nvPr/>
        </p:nvSpPr>
        <p:spPr>
          <a:xfrm rot="0">
            <a:off x="5733288" y="3273552"/>
            <a:ext cx="73151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↓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9" name="圆角矩形"/>
          <p:cNvSpPr>
            <a:spLocks/>
          </p:cNvSpPr>
          <p:nvPr/>
        </p:nvSpPr>
        <p:spPr>
          <a:xfrm rot="0">
            <a:off x="457200" y="3886200"/>
            <a:ext cx="11274552" cy="1417319"/>
          </a:xfrm>
          <a:prstGeom prst="roundRect">
            <a:avLst>
              <a:gd name="adj" fmla="val 5162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340" name="矩形"/>
          <p:cNvSpPr>
            <a:spLocks/>
          </p:cNvSpPr>
          <p:nvPr/>
        </p:nvSpPr>
        <p:spPr>
          <a:xfrm rot="0">
            <a:off x="731520" y="4023359"/>
            <a:ext cx="1069847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5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CLEAN, LEMMATIZED TOKENS  →  fed into TF-IDF vectorizer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1" name="矩形"/>
          <p:cNvSpPr>
            <a:spLocks/>
          </p:cNvSpPr>
          <p:nvPr/>
        </p:nvSpPr>
        <p:spPr>
          <a:xfrm rot="0">
            <a:off x="731520" y="4315968"/>
            <a:ext cx="10698479" cy="868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horrible product disappointed overall performance samsung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2" name="圆角矩形"/>
          <p:cNvSpPr>
            <a:spLocks/>
          </p:cNvSpPr>
          <p:nvPr/>
        </p:nvSpPr>
        <p:spPr>
          <a:xfrm rot="0">
            <a:off x="457200" y="5532120"/>
            <a:ext cx="11274552" cy="566927"/>
          </a:xfrm>
          <a:prstGeom prst="roundRect">
            <a:avLst>
              <a:gd name="adj" fmla="val 9675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343" name="矩形"/>
          <p:cNvSpPr>
            <a:spLocks/>
          </p:cNvSpPr>
          <p:nvPr/>
        </p:nvSpPr>
        <p:spPr>
          <a:xfrm rot="0">
            <a:off x="621791" y="5532120"/>
            <a:ext cx="10945368" cy="5669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TAKEAWAY   </a:t>
            </a: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Nine words survive from fourteen — every remaining token carries direct sentiment or product-attribute meaning, which is exactly what a classifier needs.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4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45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46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755526081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04 — FEATURE ENGINEERING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1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Train-Test Split &amp; TF-IDF Vectorization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2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Converting cleaned text into numeric feature vectors a machine learning model can learn from.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3" name="矩形"/>
          <p:cNvSpPr>
            <a:spLocks/>
          </p:cNvSpPr>
          <p:nvPr/>
        </p:nvSpPr>
        <p:spPr>
          <a:xfrm rot="0">
            <a:off x="457200" y="1737360"/>
            <a:ext cx="51206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80 / 20 Train-Test Split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4" name="圆角矩形"/>
          <p:cNvSpPr>
            <a:spLocks/>
          </p:cNvSpPr>
          <p:nvPr/>
        </p:nvSpPr>
        <p:spPr>
          <a:xfrm rot="0">
            <a:off x="457200" y="2103120"/>
            <a:ext cx="4096511" cy="777240"/>
          </a:xfrm>
          <a:prstGeom prst="roundRect">
            <a:avLst>
              <a:gd name="adj" fmla="val 7060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355" name="矩形"/>
          <p:cNvSpPr>
            <a:spLocks/>
          </p:cNvSpPr>
          <p:nvPr/>
        </p:nvSpPr>
        <p:spPr>
          <a:xfrm rot="0">
            <a:off x="457200" y="2103120"/>
            <a:ext cx="4096511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1,152 Training Samples (80%)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6" name="圆角矩形"/>
          <p:cNvSpPr>
            <a:spLocks/>
          </p:cNvSpPr>
          <p:nvPr/>
        </p:nvSpPr>
        <p:spPr>
          <a:xfrm rot="0">
            <a:off x="4645152" y="2103120"/>
            <a:ext cx="1024128" cy="777240"/>
          </a:xfrm>
          <a:prstGeom prst="roundRect">
            <a:avLst>
              <a:gd name="adj" fmla="val 7060"/>
            </a:avLst>
          </a:prstGeom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357" name="矩形"/>
          <p:cNvSpPr>
            <a:spLocks/>
          </p:cNvSpPr>
          <p:nvPr/>
        </p:nvSpPr>
        <p:spPr>
          <a:xfrm rot="0">
            <a:off x="4645152" y="2103120"/>
            <a:ext cx="1024128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288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(20%)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8" name="矩形"/>
          <p:cNvSpPr>
            <a:spLocks/>
          </p:cNvSpPr>
          <p:nvPr/>
        </p:nvSpPr>
        <p:spPr>
          <a:xfrm rot="0">
            <a:off x="457200" y="3017519"/>
            <a:ext cx="521208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random_state = 42, stratified by class order — ensures reproducibility across all 7 model runs.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59" name="矩形"/>
          <p:cNvSpPr>
            <a:spLocks/>
          </p:cNvSpPr>
          <p:nvPr/>
        </p:nvSpPr>
        <p:spPr>
          <a:xfrm rot="0">
            <a:off x="457200" y="3611880"/>
            <a:ext cx="512064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TF-IDF Vectorizer Configuration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0" name="矩形"/>
          <p:cNvSpPr>
            <a:spLocks/>
          </p:cNvSpPr>
          <p:nvPr/>
        </p:nvSpPr>
        <p:spPr>
          <a:xfrm rot="0">
            <a:off x="457200" y="3977640"/>
            <a:ext cx="2926080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Max features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1" name="矩形"/>
          <p:cNvSpPr>
            <a:spLocks/>
          </p:cNvSpPr>
          <p:nvPr/>
        </p:nvSpPr>
        <p:spPr>
          <a:xfrm rot="0">
            <a:off x="3383279" y="3977640"/>
            <a:ext cx="2286000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3,000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2" name="矩形"/>
          <p:cNvSpPr>
            <a:spLocks/>
          </p:cNvSpPr>
          <p:nvPr/>
        </p:nvSpPr>
        <p:spPr>
          <a:xfrm rot="0">
            <a:off x="457200" y="4361688"/>
            <a:ext cx="2926080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Input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3" name="矩形"/>
          <p:cNvSpPr>
            <a:spLocks/>
          </p:cNvSpPr>
          <p:nvPr/>
        </p:nvSpPr>
        <p:spPr>
          <a:xfrm rot="0">
            <a:off x="3383279" y="4361688"/>
            <a:ext cx="2286000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clean_text column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4" name="矩形"/>
          <p:cNvSpPr>
            <a:spLocks/>
          </p:cNvSpPr>
          <p:nvPr/>
        </p:nvSpPr>
        <p:spPr>
          <a:xfrm rot="0">
            <a:off x="457200" y="4745736"/>
            <a:ext cx="2926080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Output shape (train)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5" name="矩形"/>
          <p:cNvSpPr>
            <a:spLocks/>
          </p:cNvSpPr>
          <p:nvPr/>
        </p:nvSpPr>
        <p:spPr>
          <a:xfrm rot="0">
            <a:off x="3383279" y="4745736"/>
            <a:ext cx="2286000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1,152 × 3,000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6" name="矩形"/>
          <p:cNvSpPr>
            <a:spLocks/>
          </p:cNvSpPr>
          <p:nvPr/>
        </p:nvSpPr>
        <p:spPr>
          <a:xfrm rot="0">
            <a:off x="457200" y="5129784"/>
            <a:ext cx="2926080" cy="3291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Output shape (test)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7" name="矩形"/>
          <p:cNvSpPr>
            <a:spLocks/>
          </p:cNvSpPr>
          <p:nvPr/>
        </p:nvSpPr>
        <p:spPr>
          <a:xfrm rot="0">
            <a:off x="3383279" y="5129784"/>
            <a:ext cx="2286000" cy="3291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288 × 3,000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68" name="圆角矩形"/>
          <p:cNvSpPr>
            <a:spLocks/>
          </p:cNvSpPr>
          <p:nvPr/>
        </p:nvSpPr>
        <p:spPr>
          <a:xfrm rot="0">
            <a:off x="6266688" y="1700784"/>
            <a:ext cx="5468112" cy="3931920"/>
          </a:xfrm>
          <a:prstGeom prst="roundRect">
            <a:avLst>
              <a:gd name="adj" fmla="val 1861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369" name="矩形"/>
          <p:cNvSpPr>
            <a:spLocks/>
          </p:cNvSpPr>
          <p:nvPr/>
        </p:nvSpPr>
        <p:spPr>
          <a:xfrm rot="0">
            <a:off x="6537960" y="1920240"/>
            <a:ext cx="493776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Sparse TF-IDF Matrix (conceptual)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0" name="矩形"/>
          <p:cNvSpPr>
            <a:spLocks/>
          </p:cNvSpPr>
          <p:nvPr/>
        </p:nvSpPr>
        <p:spPr>
          <a:xfrm rot="0">
            <a:off x="6537960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1" name="矩形"/>
          <p:cNvSpPr>
            <a:spLocks/>
          </p:cNvSpPr>
          <p:nvPr/>
        </p:nvSpPr>
        <p:spPr>
          <a:xfrm rot="0">
            <a:off x="6830568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2" name="矩形"/>
          <p:cNvSpPr>
            <a:spLocks/>
          </p:cNvSpPr>
          <p:nvPr/>
        </p:nvSpPr>
        <p:spPr>
          <a:xfrm rot="0">
            <a:off x="7123176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3" name="矩形"/>
          <p:cNvSpPr>
            <a:spLocks/>
          </p:cNvSpPr>
          <p:nvPr/>
        </p:nvSpPr>
        <p:spPr>
          <a:xfrm rot="0">
            <a:off x="7415784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4" name="矩形"/>
          <p:cNvSpPr>
            <a:spLocks/>
          </p:cNvSpPr>
          <p:nvPr/>
        </p:nvSpPr>
        <p:spPr>
          <a:xfrm rot="0">
            <a:off x="7708392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5" name="矩形"/>
          <p:cNvSpPr>
            <a:spLocks/>
          </p:cNvSpPr>
          <p:nvPr/>
        </p:nvSpPr>
        <p:spPr>
          <a:xfrm rot="0">
            <a:off x="8000999" y="2331720"/>
            <a:ext cx="274319" cy="274319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6" name="矩形"/>
          <p:cNvSpPr>
            <a:spLocks/>
          </p:cNvSpPr>
          <p:nvPr/>
        </p:nvSpPr>
        <p:spPr>
          <a:xfrm rot="0">
            <a:off x="8293607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7" name="矩形"/>
          <p:cNvSpPr>
            <a:spLocks/>
          </p:cNvSpPr>
          <p:nvPr/>
        </p:nvSpPr>
        <p:spPr>
          <a:xfrm rot="0">
            <a:off x="8586216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8" name="矩形"/>
          <p:cNvSpPr>
            <a:spLocks/>
          </p:cNvSpPr>
          <p:nvPr/>
        </p:nvSpPr>
        <p:spPr>
          <a:xfrm rot="0">
            <a:off x="8878824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79" name="矩形"/>
          <p:cNvSpPr>
            <a:spLocks/>
          </p:cNvSpPr>
          <p:nvPr/>
        </p:nvSpPr>
        <p:spPr>
          <a:xfrm rot="0">
            <a:off x="9171432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0" name="矩形"/>
          <p:cNvSpPr>
            <a:spLocks/>
          </p:cNvSpPr>
          <p:nvPr/>
        </p:nvSpPr>
        <p:spPr>
          <a:xfrm rot="0">
            <a:off x="9464040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1" name="矩形"/>
          <p:cNvSpPr>
            <a:spLocks/>
          </p:cNvSpPr>
          <p:nvPr/>
        </p:nvSpPr>
        <p:spPr>
          <a:xfrm rot="0">
            <a:off x="9756648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2" name="矩形"/>
          <p:cNvSpPr>
            <a:spLocks/>
          </p:cNvSpPr>
          <p:nvPr/>
        </p:nvSpPr>
        <p:spPr>
          <a:xfrm rot="0">
            <a:off x="10049256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3" name="矩形"/>
          <p:cNvSpPr>
            <a:spLocks/>
          </p:cNvSpPr>
          <p:nvPr/>
        </p:nvSpPr>
        <p:spPr>
          <a:xfrm rot="0">
            <a:off x="10341863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4" name="矩形"/>
          <p:cNvSpPr>
            <a:spLocks/>
          </p:cNvSpPr>
          <p:nvPr/>
        </p:nvSpPr>
        <p:spPr>
          <a:xfrm rot="0">
            <a:off x="10634471" y="2331720"/>
            <a:ext cx="274319" cy="274319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5" name="矩形"/>
          <p:cNvSpPr>
            <a:spLocks/>
          </p:cNvSpPr>
          <p:nvPr/>
        </p:nvSpPr>
        <p:spPr>
          <a:xfrm rot="0">
            <a:off x="10927081" y="2331720"/>
            <a:ext cx="274319" cy="274319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6" name="矩形"/>
          <p:cNvSpPr>
            <a:spLocks/>
          </p:cNvSpPr>
          <p:nvPr/>
        </p:nvSpPr>
        <p:spPr>
          <a:xfrm rot="0">
            <a:off x="6537960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7" name="矩形"/>
          <p:cNvSpPr>
            <a:spLocks/>
          </p:cNvSpPr>
          <p:nvPr/>
        </p:nvSpPr>
        <p:spPr>
          <a:xfrm rot="0">
            <a:off x="6830568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8" name="矩形"/>
          <p:cNvSpPr>
            <a:spLocks/>
          </p:cNvSpPr>
          <p:nvPr/>
        </p:nvSpPr>
        <p:spPr>
          <a:xfrm rot="0">
            <a:off x="7123176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89" name="矩形"/>
          <p:cNvSpPr>
            <a:spLocks/>
          </p:cNvSpPr>
          <p:nvPr/>
        </p:nvSpPr>
        <p:spPr>
          <a:xfrm rot="0">
            <a:off x="7415784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0" name="矩形"/>
          <p:cNvSpPr>
            <a:spLocks/>
          </p:cNvSpPr>
          <p:nvPr/>
        </p:nvSpPr>
        <p:spPr>
          <a:xfrm rot="0">
            <a:off x="7708392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1" name="矩形"/>
          <p:cNvSpPr>
            <a:spLocks/>
          </p:cNvSpPr>
          <p:nvPr/>
        </p:nvSpPr>
        <p:spPr>
          <a:xfrm rot="0">
            <a:off x="8000999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2" name="矩形"/>
          <p:cNvSpPr>
            <a:spLocks/>
          </p:cNvSpPr>
          <p:nvPr/>
        </p:nvSpPr>
        <p:spPr>
          <a:xfrm rot="0">
            <a:off x="8293607" y="2624328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3" name="矩形"/>
          <p:cNvSpPr>
            <a:spLocks/>
          </p:cNvSpPr>
          <p:nvPr/>
        </p:nvSpPr>
        <p:spPr>
          <a:xfrm rot="0">
            <a:off x="8586216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4" name="矩形"/>
          <p:cNvSpPr>
            <a:spLocks/>
          </p:cNvSpPr>
          <p:nvPr/>
        </p:nvSpPr>
        <p:spPr>
          <a:xfrm rot="0">
            <a:off x="8878824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5" name="矩形"/>
          <p:cNvSpPr>
            <a:spLocks/>
          </p:cNvSpPr>
          <p:nvPr/>
        </p:nvSpPr>
        <p:spPr>
          <a:xfrm rot="0">
            <a:off x="9171432" y="2624328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6" name="矩形"/>
          <p:cNvSpPr>
            <a:spLocks/>
          </p:cNvSpPr>
          <p:nvPr/>
        </p:nvSpPr>
        <p:spPr>
          <a:xfrm rot="0">
            <a:off x="9464040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7" name="矩形"/>
          <p:cNvSpPr>
            <a:spLocks/>
          </p:cNvSpPr>
          <p:nvPr/>
        </p:nvSpPr>
        <p:spPr>
          <a:xfrm rot="0">
            <a:off x="9756648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8" name="矩形"/>
          <p:cNvSpPr>
            <a:spLocks/>
          </p:cNvSpPr>
          <p:nvPr/>
        </p:nvSpPr>
        <p:spPr>
          <a:xfrm rot="0">
            <a:off x="10049256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399" name="矩形"/>
          <p:cNvSpPr>
            <a:spLocks/>
          </p:cNvSpPr>
          <p:nvPr/>
        </p:nvSpPr>
        <p:spPr>
          <a:xfrm rot="0">
            <a:off x="10341863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0" name="矩形"/>
          <p:cNvSpPr>
            <a:spLocks/>
          </p:cNvSpPr>
          <p:nvPr/>
        </p:nvSpPr>
        <p:spPr>
          <a:xfrm rot="0">
            <a:off x="10634471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1" name="矩形"/>
          <p:cNvSpPr>
            <a:spLocks/>
          </p:cNvSpPr>
          <p:nvPr/>
        </p:nvSpPr>
        <p:spPr>
          <a:xfrm rot="0">
            <a:off x="10927081" y="262432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2" name="矩形"/>
          <p:cNvSpPr>
            <a:spLocks/>
          </p:cNvSpPr>
          <p:nvPr/>
        </p:nvSpPr>
        <p:spPr>
          <a:xfrm rot="0">
            <a:off x="6537960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3" name="矩形"/>
          <p:cNvSpPr>
            <a:spLocks/>
          </p:cNvSpPr>
          <p:nvPr/>
        </p:nvSpPr>
        <p:spPr>
          <a:xfrm rot="0">
            <a:off x="6830568" y="2916936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4" name="矩形"/>
          <p:cNvSpPr>
            <a:spLocks/>
          </p:cNvSpPr>
          <p:nvPr/>
        </p:nvSpPr>
        <p:spPr>
          <a:xfrm rot="0">
            <a:off x="7123176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5" name="矩形"/>
          <p:cNvSpPr>
            <a:spLocks/>
          </p:cNvSpPr>
          <p:nvPr/>
        </p:nvSpPr>
        <p:spPr>
          <a:xfrm rot="0">
            <a:off x="7415784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6" name="矩形"/>
          <p:cNvSpPr>
            <a:spLocks/>
          </p:cNvSpPr>
          <p:nvPr/>
        </p:nvSpPr>
        <p:spPr>
          <a:xfrm rot="0">
            <a:off x="7708392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7" name="矩形"/>
          <p:cNvSpPr>
            <a:spLocks/>
          </p:cNvSpPr>
          <p:nvPr/>
        </p:nvSpPr>
        <p:spPr>
          <a:xfrm rot="0">
            <a:off x="8000999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8" name="矩形"/>
          <p:cNvSpPr>
            <a:spLocks/>
          </p:cNvSpPr>
          <p:nvPr/>
        </p:nvSpPr>
        <p:spPr>
          <a:xfrm rot="0">
            <a:off x="8293607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09" name="矩形"/>
          <p:cNvSpPr>
            <a:spLocks/>
          </p:cNvSpPr>
          <p:nvPr/>
        </p:nvSpPr>
        <p:spPr>
          <a:xfrm rot="0">
            <a:off x="8586216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0" name="矩形"/>
          <p:cNvSpPr>
            <a:spLocks/>
          </p:cNvSpPr>
          <p:nvPr/>
        </p:nvSpPr>
        <p:spPr>
          <a:xfrm rot="0">
            <a:off x="8878824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1" name="矩形"/>
          <p:cNvSpPr>
            <a:spLocks/>
          </p:cNvSpPr>
          <p:nvPr/>
        </p:nvSpPr>
        <p:spPr>
          <a:xfrm rot="0">
            <a:off x="9171432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2" name="矩形"/>
          <p:cNvSpPr>
            <a:spLocks/>
          </p:cNvSpPr>
          <p:nvPr/>
        </p:nvSpPr>
        <p:spPr>
          <a:xfrm rot="0">
            <a:off x="9464040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3" name="矩形"/>
          <p:cNvSpPr>
            <a:spLocks/>
          </p:cNvSpPr>
          <p:nvPr/>
        </p:nvSpPr>
        <p:spPr>
          <a:xfrm rot="0">
            <a:off x="9756648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4" name="矩形"/>
          <p:cNvSpPr>
            <a:spLocks/>
          </p:cNvSpPr>
          <p:nvPr/>
        </p:nvSpPr>
        <p:spPr>
          <a:xfrm rot="0">
            <a:off x="10049256" y="2916936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5" name="矩形"/>
          <p:cNvSpPr>
            <a:spLocks/>
          </p:cNvSpPr>
          <p:nvPr/>
        </p:nvSpPr>
        <p:spPr>
          <a:xfrm rot="0">
            <a:off x="10341863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6" name="矩形"/>
          <p:cNvSpPr>
            <a:spLocks/>
          </p:cNvSpPr>
          <p:nvPr/>
        </p:nvSpPr>
        <p:spPr>
          <a:xfrm rot="0">
            <a:off x="10634471" y="291693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7" name="矩形"/>
          <p:cNvSpPr>
            <a:spLocks/>
          </p:cNvSpPr>
          <p:nvPr/>
        </p:nvSpPr>
        <p:spPr>
          <a:xfrm rot="0">
            <a:off x="10927081" y="2916936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8" name="矩形"/>
          <p:cNvSpPr>
            <a:spLocks/>
          </p:cNvSpPr>
          <p:nvPr/>
        </p:nvSpPr>
        <p:spPr>
          <a:xfrm rot="0">
            <a:off x="6537960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19" name="矩形"/>
          <p:cNvSpPr>
            <a:spLocks/>
          </p:cNvSpPr>
          <p:nvPr/>
        </p:nvSpPr>
        <p:spPr>
          <a:xfrm rot="0">
            <a:off x="6830568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0" name="矩形"/>
          <p:cNvSpPr>
            <a:spLocks/>
          </p:cNvSpPr>
          <p:nvPr/>
        </p:nvSpPr>
        <p:spPr>
          <a:xfrm rot="0">
            <a:off x="7123176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1" name="矩形"/>
          <p:cNvSpPr>
            <a:spLocks/>
          </p:cNvSpPr>
          <p:nvPr/>
        </p:nvSpPr>
        <p:spPr>
          <a:xfrm rot="0">
            <a:off x="7415784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2" name="矩形"/>
          <p:cNvSpPr>
            <a:spLocks/>
          </p:cNvSpPr>
          <p:nvPr/>
        </p:nvSpPr>
        <p:spPr>
          <a:xfrm rot="0">
            <a:off x="7708392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3" name="矩形"/>
          <p:cNvSpPr>
            <a:spLocks/>
          </p:cNvSpPr>
          <p:nvPr/>
        </p:nvSpPr>
        <p:spPr>
          <a:xfrm rot="0">
            <a:off x="8000999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4" name="矩形"/>
          <p:cNvSpPr>
            <a:spLocks/>
          </p:cNvSpPr>
          <p:nvPr/>
        </p:nvSpPr>
        <p:spPr>
          <a:xfrm rot="0">
            <a:off x="8293607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5" name="矩形"/>
          <p:cNvSpPr>
            <a:spLocks/>
          </p:cNvSpPr>
          <p:nvPr/>
        </p:nvSpPr>
        <p:spPr>
          <a:xfrm rot="0">
            <a:off x="8586216" y="3209543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6" name="矩形"/>
          <p:cNvSpPr>
            <a:spLocks/>
          </p:cNvSpPr>
          <p:nvPr/>
        </p:nvSpPr>
        <p:spPr>
          <a:xfrm rot="0">
            <a:off x="8878824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7" name="矩形"/>
          <p:cNvSpPr>
            <a:spLocks/>
          </p:cNvSpPr>
          <p:nvPr/>
        </p:nvSpPr>
        <p:spPr>
          <a:xfrm rot="0">
            <a:off x="9171432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8" name="矩形"/>
          <p:cNvSpPr>
            <a:spLocks/>
          </p:cNvSpPr>
          <p:nvPr/>
        </p:nvSpPr>
        <p:spPr>
          <a:xfrm rot="0">
            <a:off x="9464040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29" name="矩形"/>
          <p:cNvSpPr>
            <a:spLocks/>
          </p:cNvSpPr>
          <p:nvPr/>
        </p:nvSpPr>
        <p:spPr>
          <a:xfrm rot="0">
            <a:off x="9756648" y="3209543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0" name="矩形"/>
          <p:cNvSpPr>
            <a:spLocks/>
          </p:cNvSpPr>
          <p:nvPr/>
        </p:nvSpPr>
        <p:spPr>
          <a:xfrm rot="0">
            <a:off x="10049256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1" name="矩形"/>
          <p:cNvSpPr>
            <a:spLocks/>
          </p:cNvSpPr>
          <p:nvPr/>
        </p:nvSpPr>
        <p:spPr>
          <a:xfrm rot="0">
            <a:off x="10341863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2" name="矩形"/>
          <p:cNvSpPr>
            <a:spLocks/>
          </p:cNvSpPr>
          <p:nvPr/>
        </p:nvSpPr>
        <p:spPr>
          <a:xfrm rot="0">
            <a:off x="10634471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3" name="矩形"/>
          <p:cNvSpPr>
            <a:spLocks/>
          </p:cNvSpPr>
          <p:nvPr/>
        </p:nvSpPr>
        <p:spPr>
          <a:xfrm rot="0">
            <a:off x="10927081" y="3209543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4" name="矩形"/>
          <p:cNvSpPr>
            <a:spLocks/>
          </p:cNvSpPr>
          <p:nvPr/>
        </p:nvSpPr>
        <p:spPr>
          <a:xfrm rot="0">
            <a:off x="6537960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5" name="矩形"/>
          <p:cNvSpPr>
            <a:spLocks/>
          </p:cNvSpPr>
          <p:nvPr/>
        </p:nvSpPr>
        <p:spPr>
          <a:xfrm rot="0">
            <a:off x="6830568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6" name="矩形"/>
          <p:cNvSpPr>
            <a:spLocks/>
          </p:cNvSpPr>
          <p:nvPr/>
        </p:nvSpPr>
        <p:spPr>
          <a:xfrm rot="0">
            <a:off x="7123176" y="3502152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7" name="矩形"/>
          <p:cNvSpPr>
            <a:spLocks/>
          </p:cNvSpPr>
          <p:nvPr/>
        </p:nvSpPr>
        <p:spPr>
          <a:xfrm rot="0">
            <a:off x="7415784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8" name="矩形"/>
          <p:cNvSpPr>
            <a:spLocks/>
          </p:cNvSpPr>
          <p:nvPr/>
        </p:nvSpPr>
        <p:spPr>
          <a:xfrm rot="0">
            <a:off x="7708392" y="3502152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39" name="矩形"/>
          <p:cNvSpPr>
            <a:spLocks/>
          </p:cNvSpPr>
          <p:nvPr/>
        </p:nvSpPr>
        <p:spPr>
          <a:xfrm rot="0">
            <a:off x="8000999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0" name="矩形"/>
          <p:cNvSpPr>
            <a:spLocks/>
          </p:cNvSpPr>
          <p:nvPr/>
        </p:nvSpPr>
        <p:spPr>
          <a:xfrm rot="0">
            <a:off x="8293607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1" name="矩形"/>
          <p:cNvSpPr>
            <a:spLocks/>
          </p:cNvSpPr>
          <p:nvPr/>
        </p:nvSpPr>
        <p:spPr>
          <a:xfrm rot="0">
            <a:off x="8586216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2" name="矩形"/>
          <p:cNvSpPr>
            <a:spLocks/>
          </p:cNvSpPr>
          <p:nvPr/>
        </p:nvSpPr>
        <p:spPr>
          <a:xfrm rot="0">
            <a:off x="8878824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3" name="矩形"/>
          <p:cNvSpPr>
            <a:spLocks/>
          </p:cNvSpPr>
          <p:nvPr/>
        </p:nvSpPr>
        <p:spPr>
          <a:xfrm rot="0">
            <a:off x="9171432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4" name="矩形"/>
          <p:cNvSpPr>
            <a:spLocks/>
          </p:cNvSpPr>
          <p:nvPr/>
        </p:nvSpPr>
        <p:spPr>
          <a:xfrm rot="0">
            <a:off x="9464040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5" name="矩形"/>
          <p:cNvSpPr>
            <a:spLocks/>
          </p:cNvSpPr>
          <p:nvPr/>
        </p:nvSpPr>
        <p:spPr>
          <a:xfrm rot="0">
            <a:off x="9756648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6" name="矩形"/>
          <p:cNvSpPr>
            <a:spLocks/>
          </p:cNvSpPr>
          <p:nvPr/>
        </p:nvSpPr>
        <p:spPr>
          <a:xfrm rot="0">
            <a:off x="10049256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7" name="矩形"/>
          <p:cNvSpPr>
            <a:spLocks/>
          </p:cNvSpPr>
          <p:nvPr/>
        </p:nvSpPr>
        <p:spPr>
          <a:xfrm rot="0">
            <a:off x="10341863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8" name="矩形"/>
          <p:cNvSpPr>
            <a:spLocks/>
          </p:cNvSpPr>
          <p:nvPr/>
        </p:nvSpPr>
        <p:spPr>
          <a:xfrm rot="0">
            <a:off x="10634471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49" name="矩形"/>
          <p:cNvSpPr>
            <a:spLocks/>
          </p:cNvSpPr>
          <p:nvPr/>
        </p:nvSpPr>
        <p:spPr>
          <a:xfrm rot="0">
            <a:off x="10927081" y="3502152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0" name="矩形"/>
          <p:cNvSpPr>
            <a:spLocks/>
          </p:cNvSpPr>
          <p:nvPr/>
        </p:nvSpPr>
        <p:spPr>
          <a:xfrm rot="0">
            <a:off x="6537960" y="3794760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1" name="矩形"/>
          <p:cNvSpPr>
            <a:spLocks/>
          </p:cNvSpPr>
          <p:nvPr/>
        </p:nvSpPr>
        <p:spPr>
          <a:xfrm rot="0">
            <a:off x="6830568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2" name="矩形"/>
          <p:cNvSpPr>
            <a:spLocks/>
          </p:cNvSpPr>
          <p:nvPr/>
        </p:nvSpPr>
        <p:spPr>
          <a:xfrm rot="0">
            <a:off x="7123176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3" name="矩形"/>
          <p:cNvSpPr>
            <a:spLocks/>
          </p:cNvSpPr>
          <p:nvPr/>
        </p:nvSpPr>
        <p:spPr>
          <a:xfrm rot="0">
            <a:off x="7415784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4" name="矩形"/>
          <p:cNvSpPr>
            <a:spLocks/>
          </p:cNvSpPr>
          <p:nvPr/>
        </p:nvSpPr>
        <p:spPr>
          <a:xfrm rot="0">
            <a:off x="7708392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5" name="矩形"/>
          <p:cNvSpPr>
            <a:spLocks/>
          </p:cNvSpPr>
          <p:nvPr/>
        </p:nvSpPr>
        <p:spPr>
          <a:xfrm rot="0">
            <a:off x="8000999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6" name="矩形"/>
          <p:cNvSpPr>
            <a:spLocks/>
          </p:cNvSpPr>
          <p:nvPr/>
        </p:nvSpPr>
        <p:spPr>
          <a:xfrm rot="0">
            <a:off x="8293607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7" name="矩形"/>
          <p:cNvSpPr>
            <a:spLocks/>
          </p:cNvSpPr>
          <p:nvPr/>
        </p:nvSpPr>
        <p:spPr>
          <a:xfrm rot="0">
            <a:off x="8586216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8" name="矩形"/>
          <p:cNvSpPr>
            <a:spLocks/>
          </p:cNvSpPr>
          <p:nvPr/>
        </p:nvSpPr>
        <p:spPr>
          <a:xfrm rot="0">
            <a:off x="8878824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59" name="矩形"/>
          <p:cNvSpPr>
            <a:spLocks/>
          </p:cNvSpPr>
          <p:nvPr/>
        </p:nvSpPr>
        <p:spPr>
          <a:xfrm rot="0">
            <a:off x="9171432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0" name="矩形"/>
          <p:cNvSpPr>
            <a:spLocks/>
          </p:cNvSpPr>
          <p:nvPr/>
        </p:nvSpPr>
        <p:spPr>
          <a:xfrm rot="0">
            <a:off x="9464040" y="3794760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1" name="矩形"/>
          <p:cNvSpPr>
            <a:spLocks/>
          </p:cNvSpPr>
          <p:nvPr/>
        </p:nvSpPr>
        <p:spPr>
          <a:xfrm rot="0">
            <a:off x="9756648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2" name="矩形"/>
          <p:cNvSpPr>
            <a:spLocks/>
          </p:cNvSpPr>
          <p:nvPr/>
        </p:nvSpPr>
        <p:spPr>
          <a:xfrm rot="0">
            <a:off x="10049256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3" name="矩形"/>
          <p:cNvSpPr>
            <a:spLocks/>
          </p:cNvSpPr>
          <p:nvPr/>
        </p:nvSpPr>
        <p:spPr>
          <a:xfrm rot="0">
            <a:off x="10341863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4" name="矩形"/>
          <p:cNvSpPr>
            <a:spLocks/>
          </p:cNvSpPr>
          <p:nvPr/>
        </p:nvSpPr>
        <p:spPr>
          <a:xfrm rot="0">
            <a:off x="10634471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5" name="矩形"/>
          <p:cNvSpPr>
            <a:spLocks/>
          </p:cNvSpPr>
          <p:nvPr/>
        </p:nvSpPr>
        <p:spPr>
          <a:xfrm rot="0">
            <a:off x="10927081" y="3794760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6" name="矩形"/>
          <p:cNvSpPr>
            <a:spLocks/>
          </p:cNvSpPr>
          <p:nvPr/>
        </p:nvSpPr>
        <p:spPr>
          <a:xfrm rot="0">
            <a:off x="6537960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7" name="矩形"/>
          <p:cNvSpPr>
            <a:spLocks/>
          </p:cNvSpPr>
          <p:nvPr/>
        </p:nvSpPr>
        <p:spPr>
          <a:xfrm rot="0">
            <a:off x="6830568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8" name="矩形"/>
          <p:cNvSpPr>
            <a:spLocks/>
          </p:cNvSpPr>
          <p:nvPr/>
        </p:nvSpPr>
        <p:spPr>
          <a:xfrm rot="0">
            <a:off x="7123176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69" name="矩形"/>
          <p:cNvSpPr>
            <a:spLocks/>
          </p:cNvSpPr>
          <p:nvPr/>
        </p:nvSpPr>
        <p:spPr>
          <a:xfrm rot="0">
            <a:off x="7415784" y="4087368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0" name="矩形"/>
          <p:cNvSpPr>
            <a:spLocks/>
          </p:cNvSpPr>
          <p:nvPr/>
        </p:nvSpPr>
        <p:spPr>
          <a:xfrm rot="0">
            <a:off x="7708392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1" name="矩形"/>
          <p:cNvSpPr>
            <a:spLocks/>
          </p:cNvSpPr>
          <p:nvPr/>
        </p:nvSpPr>
        <p:spPr>
          <a:xfrm rot="0">
            <a:off x="8000999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2" name="矩形"/>
          <p:cNvSpPr>
            <a:spLocks/>
          </p:cNvSpPr>
          <p:nvPr/>
        </p:nvSpPr>
        <p:spPr>
          <a:xfrm rot="0">
            <a:off x="8293607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3" name="矩形"/>
          <p:cNvSpPr>
            <a:spLocks/>
          </p:cNvSpPr>
          <p:nvPr/>
        </p:nvSpPr>
        <p:spPr>
          <a:xfrm rot="0">
            <a:off x="8586216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4" name="矩形"/>
          <p:cNvSpPr>
            <a:spLocks/>
          </p:cNvSpPr>
          <p:nvPr/>
        </p:nvSpPr>
        <p:spPr>
          <a:xfrm rot="0">
            <a:off x="8878824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5" name="矩形"/>
          <p:cNvSpPr>
            <a:spLocks/>
          </p:cNvSpPr>
          <p:nvPr/>
        </p:nvSpPr>
        <p:spPr>
          <a:xfrm rot="0">
            <a:off x="9171432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6" name="矩形"/>
          <p:cNvSpPr>
            <a:spLocks/>
          </p:cNvSpPr>
          <p:nvPr/>
        </p:nvSpPr>
        <p:spPr>
          <a:xfrm rot="0">
            <a:off x="9464040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7" name="矩形"/>
          <p:cNvSpPr>
            <a:spLocks/>
          </p:cNvSpPr>
          <p:nvPr/>
        </p:nvSpPr>
        <p:spPr>
          <a:xfrm rot="0">
            <a:off x="9756648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8" name="矩形"/>
          <p:cNvSpPr>
            <a:spLocks/>
          </p:cNvSpPr>
          <p:nvPr/>
        </p:nvSpPr>
        <p:spPr>
          <a:xfrm rot="0">
            <a:off x="10049256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79" name="矩形"/>
          <p:cNvSpPr>
            <a:spLocks/>
          </p:cNvSpPr>
          <p:nvPr/>
        </p:nvSpPr>
        <p:spPr>
          <a:xfrm rot="0">
            <a:off x="10341863" y="4087368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0" name="矩形"/>
          <p:cNvSpPr>
            <a:spLocks/>
          </p:cNvSpPr>
          <p:nvPr/>
        </p:nvSpPr>
        <p:spPr>
          <a:xfrm rot="0">
            <a:off x="10634471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1" name="矩形"/>
          <p:cNvSpPr>
            <a:spLocks/>
          </p:cNvSpPr>
          <p:nvPr/>
        </p:nvSpPr>
        <p:spPr>
          <a:xfrm rot="0">
            <a:off x="10927081" y="4087368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2" name="矩形"/>
          <p:cNvSpPr>
            <a:spLocks/>
          </p:cNvSpPr>
          <p:nvPr/>
        </p:nvSpPr>
        <p:spPr>
          <a:xfrm rot="0">
            <a:off x="6537960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3" name="矩形"/>
          <p:cNvSpPr>
            <a:spLocks/>
          </p:cNvSpPr>
          <p:nvPr/>
        </p:nvSpPr>
        <p:spPr>
          <a:xfrm rot="0">
            <a:off x="6830568" y="4379976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4" name="矩形"/>
          <p:cNvSpPr>
            <a:spLocks/>
          </p:cNvSpPr>
          <p:nvPr/>
        </p:nvSpPr>
        <p:spPr>
          <a:xfrm rot="0">
            <a:off x="7123176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5" name="矩形"/>
          <p:cNvSpPr>
            <a:spLocks/>
          </p:cNvSpPr>
          <p:nvPr/>
        </p:nvSpPr>
        <p:spPr>
          <a:xfrm rot="0">
            <a:off x="7415784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6" name="矩形"/>
          <p:cNvSpPr>
            <a:spLocks/>
          </p:cNvSpPr>
          <p:nvPr/>
        </p:nvSpPr>
        <p:spPr>
          <a:xfrm rot="0">
            <a:off x="7708392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7" name="矩形"/>
          <p:cNvSpPr>
            <a:spLocks/>
          </p:cNvSpPr>
          <p:nvPr/>
        </p:nvSpPr>
        <p:spPr>
          <a:xfrm rot="0">
            <a:off x="8000999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8" name="矩形"/>
          <p:cNvSpPr>
            <a:spLocks/>
          </p:cNvSpPr>
          <p:nvPr/>
        </p:nvSpPr>
        <p:spPr>
          <a:xfrm rot="0">
            <a:off x="8293607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89" name="矩形"/>
          <p:cNvSpPr>
            <a:spLocks/>
          </p:cNvSpPr>
          <p:nvPr/>
        </p:nvSpPr>
        <p:spPr>
          <a:xfrm rot="0">
            <a:off x="8586216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0" name="矩形"/>
          <p:cNvSpPr>
            <a:spLocks/>
          </p:cNvSpPr>
          <p:nvPr/>
        </p:nvSpPr>
        <p:spPr>
          <a:xfrm rot="0">
            <a:off x="8878824" y="4379976"/>
            <a:ext cx="274319" cy="274320"/>
          </a:xfrm>
          <a:prstGeom prst="rect"/>
          <a:solidFill>
            <a:srgbClr val="2E6BF2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1" name="矩形"/>
          <p:cNvSpPr>
            <a:spLocks/>
          </p:cNvSpPr>
          <p:nvPr/>
        </p:nvSpPr>
        <p:spPr>
          <a:xfrm rot="0">
            <a:off x="9171432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2" name="矩形"/>
          <p:cNvSpPr>
            <a:spLocks/>
          </p:cNvSpPr>
          <p:nvPr/>
        </p:nvSpPr>
        <p:spPr>
          <a:xfrm rot="0">
            <a:off x="9464040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3" name="矩形"/>
          <p:cNvSpPr>
            <a:spLocks/>
          </p:cNvSpPr>
          <p:nvPr/>
        </p:nvSpPr>
        <p:spPr>
          <a:xfrm rot="0">
            <a:off x="9756648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4" name="矩形"/>
          <p:cNvSpPr>
            <a:spLocks/>
          </p:cNvSpPr>
          <p:nvPr/>
        </p:nvSpPr>
        <p:spPr>
          <a:xfrm rot="0">
            <a:off x="10049256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5" name="矩形"/>
          <p:cNvSpPr>
            <a:spLocks/>
          </p:cNvSpPr>
          <p:nvPr/>
        </p:nvSpPr>
        <p:spPr>
          <a:xfrm rot="0">
            <a:off x="10341863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6" name="矩形"/>
          <p:cNvSpPr>
            <a:spLocks/>
          </p:cNvSpPr>
          <p:nvPr/>
        </p:nvSpPr>
        <p:spPr>
          <a:xfrm rot="0">
            <a:off x="10634471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7" name="矩形"/>
          <p:cNvSpPr>
            <a:spLocks/>
          </p:cNvSpPr>
          <p:nvPr/>
        </p:nvSpPr>
        <p:spPr>
          <a:xfrm rot="0">
            <a:off x="10927081" y="4379976"/>
            <a:ext cx="274319" cy="274320"/>
          </a:xfrm>
          <a:prstGeom prst="rect"/>
          <a:solidFill>
            <a:srgbClr val="FFFFFF"/>
          </a:solidFill>
          <a:ln w="6350" cmpd="sng" cap="flat">
            <a:solidFill>
              <a:srgbClr val="D8DEEA"/>
            </a:solidFill>
            <a:prstDash val="solid"/>
            <a:round/>
          </a:ln>
        </p:spPr>
      </p:sp>
      <p:sp>
        <p:nvSpPr>
          <p:cNvPr id="498" name="矩形"/>
          <p:cNvSpPr>
            <a:spLocks/>
          </p:cNvSpPr>
          <p:nvPr/>
        </p:nvSpPr>
        <p:spPr>
          <a:xfrm rot="0">
            <a:off x="6537960" y="4800600"/>
            <a:ext cx="4937760" cy="8229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Each cell = one word's TF-IDF weight for one review. Most cells are zero (sparse) since any single review uses a tiny fraction of the 3,000-word vocabulary.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9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00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01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02" name="圆角矩形"/>
          <p:cNvSpPr>
            <a:spLocks/>
          </p:cNvSpPr>
          <p:nvPr/>
        </p:nvSpPr>
        <p:spPr>
          <a:xfrm rot="0">
            <a:off x="457200" y="5852159"/>
            <a:ext cx="11277600" cy="685801"/>
          </a:xfrm>
          <a:prstGeom prst="roundRect">
            <a:avLst>
              <a:gd name="adj" fmla="val 2907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503" name="矩形"/>
          <p:cNvSpPr>
            <a:spLocks/>
          </p:cNvSpPr>
          <p:nvPr/>
        </p:nvSpPr>
        <p:spPr>
          <a:xfrm rot="0">
            <a:off x="617655" y="5894044"/>
            <a:ext cx="8842248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Down-weights words common across all reviews; up-weights rare, distinctive ones.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4" name="矩形"/>
          <p:cNvSpPr>
            <a:spLocks/>
          </p:cNvSpPr>
          <p:nvPr/>
        </p:nvSpPr>
        <p:spPr>
          <a:xfrm rot="0">
            <a:off x="4700995" y="6199631"/>
            <a:ext cx="6774725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"disappointed" or "excellent" — rarer, sentiment-loaded — get more weight than "phone"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252705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05 — MODEL BUILDING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09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Seven Modeling Approaches, One Benchmark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0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We deliberately spanned lexicon-based, classical ML, ensemble, and neural methods to find the best accuracy-interpretability trade-off.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1" name="圆角矩形"/>
          <p:cNvSpPr>
            <a:spLocks/>
          </p:cNvSpPr>
          <p:nvPr/>
        </p:nvSpPr>
        <p:spPr>
          <a:xfrm rot="0">
            <a:off x="457200" y="1920240"/>
            <a:ext cx="1572768" cy="3566160"/>
          </a:xfrm>
          <a:prstGeom prst="roundRect">
            <a:avLst>
              <a:gd name="adj" fmla="val 4652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12" name="椭圆"/>
          <p:cNvSpPr>
            <a:spLocks/>
          </p:cNvSpPr>
          <p:nvPr/>
        </p:nvSpPr>
        <p:spPr>
          <a:xfrm rot="0">
            <a:off x="1014984" y="2148840"/>
            <a:ext cx="457199" cy="457200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513" name="矩形"/>
          <p:cNvSpPr>
            <a:spLocks/>
          </p:cNvSpPr>
          <p:nvPr/>
        </p:nvSpPr>
        <p:spPr>
          <a:xfrm rot="0">
            <a:off x="1014984" y="2148840"/>
            <a:ext cx="45719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4" name="矩形"/>
          <p:cNvSpPr>
            <a:spLocks/>
          </p:cNvSpPr>
          <p:nvPr/>
        </p:nvSpPr>
        <p:spPr>
          <a:xfrm rot="0">
            <a:off x="548640" y="2788920"/>
            <a:ext cx="1389888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Logistic Regression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5" name="矩形"/>
          <p:cNvSpPr>
            <a:spLocks/>
          </p:cNvSpPr>
          <p:nvPr/>
        </p:nvSpPr>
        <p:spPr>
          <a:xfrm rot="0">
            <a:off x="548640" y="3611880"/>
            <a:ext cx="1389888" cy="1737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Linear, probabilistic baseline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6" name="圆角矩形"/>
          <p:cNvSpPr>
            <a:spLocks/>
          </p:cNvSpPr>
          <p:nvPr/>
        </p:nvSpPr>
        <p:spPr>
          <a:xfrm rot="0">
            <a:off x="2121408" y="1920240"/>
            <a:ext cx="1572767" cy="3566160"/>
          </a:xfrm>
          <a:prstGeom prst="roundRect">
            <a:avLst>
              <a:gd name="adj" fmla="val 465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17" name="椭圆"/>
          <p:cNvSpPr>
            <a:spLocks/>
          </p:cNvSpPr>
          <p:nvPr/>
        </p:nvSpPr>
        <p:spPr>
          <a:xfrm rot="0">
            <a:off x="2679192" y="2148840"/>
            <a:ext cx="457200" cy="45720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18" name="矩形"/>
          <p:cNvSpPr>
            <a:spLocks/>
          </p:cNvSpPr>
          <p:nvPr/>
        </p:nvSpPr>
        <p:spPr>
          <a:xfrm rot="0">
            <a:off x="2679192" y="2148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19" name="矩形"/>
          <p:cNvSpPr>
            <a:spLocks/>
          </p:cNvSpPr>
          <p:nvPr/>
        </p:nvSpPr>
        <p:spPr>
          <a:xfrm rot="0">
            <a:off x="2212848" y="2788920"/>
            <a:ext cx="1389888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Naive Bayes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0" name="矩形"/>
          <p:cNvSpPr>
            <a:spLocks/>
          </p:cNvSpPr>
          <p:nvPr/>
        </p:nvSpPr>
        <p:spPr>
          <a:xfrm rot="0">
            <a:off x="2212848" y="3611880"/>
            <a:ext cx="1389888" cy="1737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Fast, probabilistic, text-native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1" name="圆角矩形"/>
          <p:cNvSpPr>
            <a:spLocks/>
          </p:cNvSpPr>
          <p:nvPr/>
        </p:nvSpPr>
        <p:spPr>
          <a:xfrm rot="0">
            <a:off x="3785616" y="1920240"/>
            <a:ext cx="1572768" cy="3566160"/>
          </a:xfrm>
          <a:prstGeom prst="roundRect">
            <a:avLst>
              <a:gd name="adj" fmla="val 465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22" name="椭圆"/>
          <p:cNvSpPr>
            <a:spLocks/>
          </p:cNvSpPr>
          <p:nvPr/>
        </p:nvSpPr>
        <p:spPr>
          <a:xfrm rot="0">
            <a:off x="4343400" y="2148840"/>
            <a:ext cx="457200" cy="45720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23" name="矩形"/>
          <p:cNvSpPr>
            <a:spLocks/>
          </p:cNvSpPr>
          <p:nvPr/>
        </p:nvSpPr>
        <p:spPr>
          <a:xfrm rot="0">
            <a:off x="4343400" y="2148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4" name="矩形"/>
          <p:cNvSpPr>
            <a:spLocks/>
          </p:cNvSpPr>
          <p:nvPr/>
        </p:nvSpPr>
        <p:spPr>
          <a:xfrm rot="0">
            <a:off x="3877055" y="2788920"/>
            <a:ext cx="1389887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Random Forest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5" name="矩形"/>
          <p:cNvSpPr>
            <a:spLocks/>
          </p:cNvSpPr>
          <p:nvPr/>
        </p:nvSpPr>
        <p:spPr>
          <a:xfrm rot="0">
            <a:off x="3877055" y="3611880"/>
            <a:ext cx="1389887" cy="1737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Bagged ensemble of decision trees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6" name="圆角矩形"/>
          <p:cNvSpPr>
            <a:spLocks/>
          </p:cNvSpPr>
          <p:nvPr/>
        </p:nvSpPr>
        <p:spPr>
          <a:xfrm rot="0">
            <a:off x="5449824" y="1920240"/>
            <a:ext cx="1572767" cy="3566160"/>
          </a:xfrm>
          <a:prstGeom prst="roundRect">
            <a:avLst>
              <a:gd name="adj" fmla="val 465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27" name="椭圆"/>
          <p:cNvSpPr>
            <a:spLocks/>
          </p:cNvSpPr>
          <p:nvPr/>
        </p:nvSpPr>
        <p:spPr>
          <a:xfrm rot="0">
            <a:off x="6007608" y="2148840"/>
            <a:ext cx="457200" cy="45720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28" name="矩形"/>
          <p:cNvSpPr>
            <a:spLocks/>
          </p:cNvSpPr>
          <p:nvPr/>
        </p:nvSpPr>
        <p:spPr>
          <a:xfrm rot="0">
            <a:off x="6007608" y="2148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9" name="矩形"/>
          <p:cNvSpPr>
            <a:spLocks/>
          </p:cNvSpPr>
          <p:nvPr/>
        </p:nvSpPr>
        <p:spPr>
          <a:xfrm rot="0">
            <a:off x="5541264" y="2788920"/>
            <a:ext cx="1389888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SVM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0" name="矩形"/>
          <p:cNvSpPr>
            <a:spLocks/>
          </p:cNvSpPr>
          <p:nvPr/>
        </p:nvSpPr>
        <p:spPr>
          <a:xfrm rot="0">
            <a:off x="5541264" y="3611880"/>
            <a:ext cx="1389888" cy="1737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Max-margin linear classifier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1" name="圆角矩形"/>
          <p:cNvSpPr>
            <a:spLocks/>
          </p:cNvSpPr>
          <p:nvPr/>
        </p:nvSpPr>
        <p:spPr>
          <a:xfrm rot="0">
            <a:off x="7114031" y="1920240"/>
            <a:ext cx="1572767" cy="3566160"/>
          </a:xfrm>
          <a:prstGeom prst="roundRect">
            <a:avLst>
              <a:gd name="adj" fmla="val 465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32" name="椭圆"/>
          <p:cNvSpPr>
            <a:spLocks/>
          </p:cNvSpPr>
          <p:nvPr/>
        </p:nvSpPr>
        <p:spPr>
          <a:xfrm rot="0">
            <a:off x="7671816" y="2148840"/>
            <a:ext cx="457200" cy="45720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33" name="矩形"/>
          <p:cNvSpPr>
            <a:spLocks/>
          </p:cNvSpPr>
          <p:nvPr/>
        </p:nvSpPr>
        <p:spPr>
          <a:xfrm rot="0">
            <a:off x="7671816" y="2148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4" name="矩形"/>
          <p:cNvSpPr>
            <a:spLocks/>
          </p:cNvSpPr>
          <p:nvPr/>
        </p:nvSpPr>
        <p:spPr>
          <a:xfrm rot="0">
            <a:off x="7205472" y="2788920"/>
            <a:ext cx="1389888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VADER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5" name="矩形"/>
          <p:cNvSpPr>
            <a:spLocks/>
          </p:cNvSpPr>
          <p:nvPr/>
        </p:nvSpPr>
        <p:spPr>
          <a:xfrm rot="0">
            <a:off x="7205472" y="3611880"/>
            <a:ext cx="1389888" cy="1737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Lexicon &amp; rule-based, no training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6" name="圆角矩形"/>
          <p:cNvSpPr>
            <a:spLocks/>
          </p:cNvSpPr>
          <p:nvPr/>
        </p:nvSpPr>
        <p:spPr>
          <a:xfrm rot="0">
            <a:off x="8778240" y="1920240"/>
            <a:ext cx="1572768" cy="3566160"/>
          </a:xfrm>
          <a:prstGeom prst="roundRect">
            <a:avLst>
              <a:gd name="adj" fmla="val 465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37" name="椭圆"/>
          <p:cNvSpPr>
            <a:spLocks/>
          </p:cNvSpPr>
          <p:nvPr/>
        </p:nvSpPr>
        <p:spPr>
          <a:xfrm rot="0">
            <a:off x="9336024" y="2148840"/>
            <a:ext cx="457200" cy="45720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38" name="矩形"/>
          <p:cNvSpPr>
            <a:spLocks/>
          </p:cNvSpPr>
          <p:nvPr/>
        </p:nvSpPr>
        <p:spPr>
          <a:xfrm rot="0">
            <a:off x="9336024" y="2148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9" name="矩形"/>
          <p:cNvSpPr>
            <a:spLocks/>
          </p:cNvSpPr>
          <p:nvPr/>
        </p:nvSpPr>
        <p:spPr>
          <a:xfrm rot="0">
            <a:off x="8869680" y="2788920"/>
            <a:ext cx="1389887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XGBoost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0" name="矩形"/>
          <p:cNvSpPr>
            <a:spLocks/>
          </p:cNvSpPr>
          <p:nvPr/>
        </p:nvSpPr>
        <p:spPr>
          <a:xfrm rot="0">
            <a:off x="8869680" y="3611880"/>
            <a:ext cx="1389887" cy="1737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Boosted gradient tree ensemble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1" name="圆角矩形"/>
          <p:cNvSpPr>
            <a:spLocks/>
          </p:cNvSpPr>
          <p:nvPr/>
        </p:nvSpPr>
        <p:spPr>
          <a:xfrm rot="0">
            <a:off x="10442448" y="1920240"/>
            <a:ext cx="1572768" cy="3566160"/>
          </a:xfrm>
          <a:prstGeom prst="roundRect">
            <a:avLst>
              <a:gd name="adj" fmla="val 465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42" name="椭圆"/>
          <p:cNvSpPr>
            <a:spLocks/>
          </p:cNvSpPr>
          <p:nvPr/>
        </p:nvSpPr>
        <p:spPr>
          <a:xfrm rot="0">
            <a:off x="11000232" y="2148840"/>
            <a:ext cx="457200" cy="457200"/>
          </a:xfrm>
          <a:prstGeom prst="ellipse"/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43" name="矩形"/>
          <p:cNvSpPr>
            <a:spLocks/>
          </p:cNvSpPr>
          <p:nvPr/>
        </p:nvSpPr>
        <p:spPr>
          <a:xfrm rot="0">
            <a:off x="11000232" y="21488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4" name="矩形"/>
          <p:cNvSpPr>
            <a:spLocks/>
          </p:cNvSpPr>
          <p:nvPr/>
        </p:nvSpPr>
        <p:spPr>
          <a:xfrm rot="0">
            <a:off x="10533888" y="2788920"/>
            <a:ext cx="1389888" cy="777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ANN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5" name="矩形"/>
          <p:cNvSpPr>
            <a:spLocks/>
          </p:cNvSpPr>
          <p:nvPr/>
        </p:nvSpPr>
        <p:spPr>
          <a:xfrm rot="0">
            <a:off x="10533888" y="3611880"/>
            <a:ext cx="1389888" cy="1737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Multi-layer perceptron (deep learning)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6" name="圆角矩形"/>
          <p:cNvSpPr>
            <a:spLocks/>
          </p:cNvSpPr>
          <p:nvPr/>
        </p:nvSpPr>
        <p:spPr>
          <a:xfrm rot="0">
            <a:off x="457200" y="5715000"/>
            <a:ext cx="11274552" cy="566927"/>
          </a:xfrm>
          <a:prstGeom prst="roundRect">
            <a:avLst>
              <a:gd name="adj" fmla="val 9675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547" name="矩形"/>
          <p:cNvSpPr>
            <a:spLocks/>
          </p:cNvSpPr>
          <p:nvPr/>
        </p:nvSpPr>
        <p:spPr>
          <a:xfrm rot="0">
            <a:off x="621791" y="5715000"/>
            <a:ext cx="10945368" cy="5669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KEY TAKEAWAY   </a:t>
            </a:r>
            <a:r>
              <a:rPr lang="en-US" altLang="zh-CN" sz="11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Every model shares the same TF-IDF input and 80/20 split — an apples-to-apples benchmark, not a cherry-picked comparison.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8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49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50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117111842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06 — COMPARISON &amp; EVALUATION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5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Evaluation Metrics — Technical &amp; Business View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6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Every metric answers a different business question about the deployed classifier.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7" name="圆角矩形"/>
          <p:cNvSpPr>
            <a:spLocks/>
          </p:cNvSpPr>
          <p:nvPr/>
        </p:nvSpPr>
        <p:spPr>
          <a:xfrm rot="0">
            <a:off x="457200" y="1691639"/>
            <a:ext cx="5458968" cy="1783080"/>
          </a:xfrm>
          <a:prstGeom prst="roundRect">
            <a:avLst>
              <a:gd name="adj" fmla="val 4101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58" name="矩形"/>
          <p:cNvSpPr>
            <a:spLocks/>
          </p:cNvSpPr>
          <p:nvPr/>
        </p:nvSpPr>
        <p:spPr>
          <a:xfrm rot="0">
            <a:off x="685800" y="1828800"/>
            <a:ext cx="50292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Accuracy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9" name="矩形"/>
          <p:cNvSpPr>
            <a:spLocks/>
          </p:cNvSpPr>
          <p:nvPr/>
        </p:nvSpPr>
        <p:spPr>
          <a:xfrm rot="0">
            <a:off x="685800" y="2194560"/>
            <a:ext cx="50292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% of all reviews classified correctly</a:t>
            </a:r>
            <a:endParaRPr lang="zh-CN" altLang="en-US" sz="10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0" name="矩形"/>
          <p:cNvSpPr>
            <a:spLocks/>
          </p:cNvSpPr>
          <p:nvPr/>
        </p:nvSpPr>
        <p:spPr>
          <a:xfrm rot="0">
            <a:off x="685800" y="2743200"/>
            <a:ext cx="50292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30" b="0" i="1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"Overall, how often can we trust the system?"</a:t>
            </a:r>
            <a:endParaRPr lang="zh-CN" altLang="en-US" sz="103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1" name="圆角矩形"/>
          <p:cNvSpPr>
            <a:spLocks/>
          </p:cNvSpPr>
          <p:nvPr/>
        </p:nvSpPr>
        <p:spPr>
          <a:xfrm rot="0">
            <a:off x="6099048" y="1691639"/>
            <a:ext cx="5458968" cy="1783080"/>
          </a:xfrm>
          <a:prstGeom prst="roundRect">
            <a:avLst>
              <a:gd name="adj" fmla="val 4101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562" name="矩形"/>
          <p:cNvSpPr>
            <a:spLocks/>
          </p:cNvSpPr>
          <p:nvPr/>
        </p:nvSpPr>
        <p:spPr>
          <a:xfrm rot="0">
            <a:off x="6327647" y="1828800"/>
            <a:ext cx="50292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Precision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3" name="矩形"/>
          <p:cNvSpPr>
            <a:spLocks/>
          </p:cNvSpPr>
          <p:nvPr/>
        </p:nvSpPr>
        <p:spPr>
          <a:xfrm rot="0">
            <a:off x="6327647" y="2194560"/>
            <a:ext cx="50292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Of reviews flagged Negative, how many really were?</a:t>
            </a:r>
            <a:endParaRPr lang="zh-CN" altLang="en-US" sz="10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4" name="矩形"/>
          <p:cNvSpPr>
            <a:spLocks/>
          </p:cNvSpPr>
          <p:nvPr/>
        </p:nvSpPr>
        <p:spPr>
          <a:xfrm rot="0">
            <a:off x="6327647" y="2743200"/>
            <a:ext cx="50292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30" b="0" i="1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"How much do we trust each Negative alert?" (avoids false-alarm fatigue)</a:t>
            </a:r>
            <a:endParaRPr lang="zh-CN" altLang="en-US" sz="103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5" name="圆角矩形"/>
          <p:cNvSpPr>
            <a:spLocks/>
          </p:cNvSpPr>
          <p:nvPr/>
        </p:nvSpPr>
        <p:spPr>
          <a:xfrm rot="0">
            <a:off x="457200" y="3657600"/>
            <a:ext cx="5458968" cy="1783080"/>
          </a:xfrm>
          <a:prstGeom prst="roundRect">
            <a:avLst>
              <a:gd name="adj" fmla="val 4101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66" name="矩形"/>
          <p:cNvSpPr>
            <a:spLocks/>
          </p:cNvSpPr>
          <p:nvPr/>
        </p:nvSpPr>
        <p:spPr>
          <a:xfrm rot="0">
            <a:off x="685800" y="3794760"/>
            <a:ext cx="5029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Recall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7" name="矩形"/>
          <p:cNvSpPr>
            <a:spLocks/>
          </p:cNvSpPr>
          <p:nvPr/>
        </p:nvSpPr>
        <p:spPr>
          <a:xfrm rot="0">
            <a:off x="685800" y="4160520"/>
            <a:ext cx="50292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Of all truly Negative reviews, how many did we catch?</a:t>
            </a:r>
            <a:endParaRPr lang="zh-CN" altLang="en-US" sz="10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8" name="矩形"/>
          <p:cNvSpPr>
            <a:spLocks/>
          </p:cNvSpPr>
          <p:nvPr/>
        </p:nvSpPr>
        <p:spPr>
          <a:xfrm rot="0">
            <a:off x="685800" y="4709160"/>
            <a:ext cx="50292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30" b="0" i="1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"Are we missing real complaints?" (directly tied to churn risk)</a:t>
            </a:r>
            <a:endParaRPr lang="zh-CN" altLang="en-US" sz="103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9" name="圆角矩形"/>
          <p:cNvSpPr>
            <a:spLocks/>
          </p:cNvSpPr>
          <p:nvPr/>
        </p:nvSpPr>
        <p:spPr>
          <a:xfrm rot="0">
            <a:off x="6099048" y="3657600"/>
            <a:ext cx="5458968" cy="1783080"/>
          </a:xfrm>
          <a:prstGeom prst="roundRect">
            <a:avLst>
              <a:gd name="adj" fmla="val 4101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570" name="矩形"/>
          <p:cNvSpPr>
            <a:spLocks/>
          </p:cNvSpPr>
          <p:nvPr/>
        </p:nvSpPr>
        <p:spPr>
          <a:xfrm rot="0">
            <a:off x="6327647" y="3794760"/>
            <a:ext cx="5029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F1-Score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1" name="矩形"/>
          <p:cNvSpPr>
            <a:spLocks/>
          </p:cNvSpPr>
          <p:nvPr/>
        </p:nvSpPr>
        <p:spPr>
          <a:xfrm rot="0">
            <a:off x="6327647" y="4160520"/>
            <a:ext cx="50292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8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Harmonic balance of Precision &amp; Recall</a:t>
            </a:r>
            <a:endParaRPr lang="zh-CN" altLang="en-US" sz="10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2" name="矩形"/>
          <p:cNvSpPr>
            <a:spLocks/>
          </p:cNvSpPr>
          <p:nvPr/>
        </p:nvSpPr>
        <p:spPr>
          <a:xfrm rot="0">
            <a:off x="6327647" y="4709160"/>
            <a:ext cx="50292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30" b="0" i="1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"Single number to rank models fairly on imbalanced classes"</a:t>
            </a:r>
            <a:endParaRPr lang="zh-CN" altLang="en-US" sz="103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3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74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75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931638460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06 — COMPARISON &amp; EVALUATION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0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Model Comparison — Head to Head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1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Same data, same split, same features. Seven algorithms, ranked on real held-out performance.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582" name="Table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457200" y="1737360"/>
          <a:ext cx="11274552" cy="36576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331707"/>
                <a:gridCol w="1280147"/>
                <a:gridCol w="1280147"/>
                <a:gridCol w="1188707"/>
                <a:gridCol w="1280147"/>
                <a:gridCol w="3913619"/>
              </a:tblGrid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Model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Accuracy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Precision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Recall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F1-Score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1" i="0" u="none" strike="noStrike" kern="1200" cap="none" spc="0" baseline="0">
                          <a:solidFill>
                            <a:srgbClr val="FFFFFF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Best Suited For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B1F45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1" i="0" u="none" strike="noStrike" kern="1200" cap="none" spc="0" baseline="0">
                          <a:solidFill>
                            <a:srgbClr val="0B1F45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Logistic Regression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0B1F45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79.51%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0B1F45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0.78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0B1F45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0.80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0B1F45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0.74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D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0B1F45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Fast, interpretable production baseline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EDFB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SVM (LinearSVC)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79.17%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0.77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0.79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0.77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Best-balanced classifier across all classes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Random Forest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76.74%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0.66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0.77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0.71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Feature-importance / explainability needs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XGBoost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76.74%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0.73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0.77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0.73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Slight edge in handling non-linear patterns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ANN (MLP)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73.61%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0.72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0.74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0.72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Foundation for future deep-learning work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Naive Bayes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72.22%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0.66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0.72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0.66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Lightweight, near-instant retraining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VADER (lexicon)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70.49%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0.66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0.70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0.66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50" b="0" i="0" u="none" strike="noStrike" kern="1200" cap="none" spc="0" baseline="0">
                          <a:solidFill>
                            <a:srgbClr val="16213E"/>
                          </a:solidFill>
                          <a:latin typeface="Calibri" pitchFamily="0" charset="0"/>
                          <a:ea typeface="Calibri" pitchFamily="0" charset="0"/>
                          <a:cs typeface="Calibri" pitchFamily="0" charset="0"/>
                        </a:rPr>
                        <a:t>Zero-training-data sanity benchmark</a:t>
                      </a:r>
                      <a:endParaRPr lang="zh-CN" altLang="en-US" sz="105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Calibri" pitchFamily="0" charset="0"/>
                        <a:cs typeface="Calibri" pitchFamily="0" charset="0"/>
                      </a:endParaRPr>
                    </a:p>
                  </a:txBody>
                  <a:tcPr marL="0" marT="0" marR="0" marB="0" vert="horz" anchor="ctr">
                    <a:lnL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A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3" name="圆角矩形"/>
          <p:cNvSpPr>
            <a:spLocks/>
          </p:cNvSpPr>
          <p:nvPr/>
        </p:nvSpPr>
        <p:spPr>
          <a:xfrm rot="0">
            <a:off x="457200" y="5577840"/>
            <a:ext cx="11274552" cy="566928"/>
          </a:xfrm>
          <a:prstGeom prst="roundRect">
            <a:avLst>
              <a:gd name="adj" fmla="val 9675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584" name="矩形"/>
          <p:cNvSpPr>
            <a:spLocks/>
          </p:cNvSpPr>
          <p:nvPr/>
        </p:nvSpPr>
        <p:spPr>
          <a:xfrm rot="0">
            <a:off x="640080" y="5577840"/>
            <a:ext cx="10881359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WINNER — LOGISTIC REGRESSION   </a:t>
            </a:r>
            <a:r>
              <a:rPr lang="en-US" altLang="zh-CN" sz="1100" b="0" i="0" u="none" strike="noStrike" kern="1200" cap="none" spc="0" baseline="0">
                <a:solidFill>
                  <a:srgbClr val="E3E8F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highest accuracy (79.51%) with the fastest inference and full interpretability. SVM is the closest competitor on weighted F1-score.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5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86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87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348653598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07 — DEPLOYMENT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2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Deployment Architecture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3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The trained all models to served live through an interactive Streamlit web application.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4" name="圆角矩形"/>
          <p:cNvSpPr>
            <a:spLocks/>
          </p:cNvSpPr>
          <p:nvPr/>
        </p:nvSpPr>
        <p:spPr>
          <a:xfrm rot="0">
            <a:off x="457200" y="2103120"/>
            <a:ext cx="2048255" cy="1965960"/>
          </a:xfrm>
          <a:prstGeom prst="roundRect">
            <a:avLst>
              <a:gd name="adj" fmla="val 372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595" name="椭圆"/>
          <p:cNvSpPr>
            <a:spLocks/>
          </p:cNvSpPr>
          <p:nvPr/>
        </p:nvSpPr>
        <p:spPr>
          <a:xfrm rot="0">
            <a:off x="1261872" y="2286000"/>
            <a:ext cx="438912" cy="438911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596" name="矩形"/>
          <p:cNvSpPr>
            <a:spLocks/>
          </p:cNvSpPr>
          <p:nvPr/>
        </p:nvSpPr>
        <p:spPr>
          <a:xfrm rot="0">
            <a:off x="1261872" y="2286000"/>
            <a:ext cx="438912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7" name="矩形"/>
          <p:cNvSpPr>
            <a:spLocks/>
          </p:cNvSpPr>
          <p:nvPr/>
        </p:nvSpPr>
        <p:spPr>
          <a:xfrm rot="0">
            <a:off x="566928" y="2880360"/>
            <a:ext cx="18288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User enters a review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8" name="矩形"/>
          <p:cNvSpPr>
            <a:spLocks/>
          </p:cNvSpPr>
          <p:nvPr/>
        </p:nvSpPr>
        <p:spPr>
          <a:xfrm rot="0">
            <a:off x="566928" y="3383279"/>
            <a:ext cx="18288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Free-text input box on the Streamlit UI</a:t>
            </a:r>
            <a:endParaRPr lang="zh-CN" altLang="en-US" sz="8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9" name="矩形"/>
          <p:cNvSpPr>
            <a:spLocks/>
          </p:cNvSpPr>
          <p:nvPr/>
        </p:nvSpPr>
        <p:spPr>
          <a:xfrm rot="0">
            <a:off x="2510028" y="2880360"/>
            <a:ext cx="146303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0" name="圆角矩形"/>
          <p:cNvSpPr>
            <a:spLocks/>
          </p:cNvSpPr>
          <p:nvPr/>
        </p:nvSpPr>
        <p:spPr>
          <a:xfrm rot="0">
            <a:off x="2660904" y="2103120"/>
            <a:ext cx="2048255" cy="1965960"/>
          </a:xfrm>
          <a:prstGeom prst="roundRect">
            <a:avLst>
              <a:gd name="adj" fmla="val 372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01" name="椭圆"/>
          <p:cNvSpPr>
            <a:spLocks/>
          </p:cNvSpPr>
          <p:nvPr/>
        </p:nvSpPr>
        <p:spPr>
          <a:xfrm rot="0">
            <a:off x="3465576" y="2286000"/>
            <a:ext cx="438912" cy="438911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02" name="矩形"/>
          <p:cNvSpPr>
            <a:spLocks/>
          </p:cNvSpPr>
          <p:nvPr/>
        </p:nvSpPr>
        <p:spPr>
          <a:xfrm rot="0">
            <a:off x="3465576" y="2286000"/>
            <a:ext cx="438912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3" name="矩形"/>
          <p:cNvSpPr>
            <a:spLocks/>
          </p:cNvSpPr>
          <p:nvPr/>
        </p:nvSpPr>
        <p:spPr>
          <a:xfrm rot="0">
            <a:off x="2770632" y="2880360"/>
            <a:ext cx="18288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Preprocessing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4" name="矩形"/>
          <p:cNvSpPr>
            <a:spLocks/>
          </p:cNvSpPr>
          <p:nvPr/>
        </p:nvSpPr>
        <p:spPr>
          <a:xfrm rot="0">
            <a:off x="2770632" y="3383279"/>
            <a:ext cx="18288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Lowercase → clean → tokenize → lemmatize</a:t>
            </a:r>
            <a:endParaRPr lang="zh-CN" altLang="en-US" sz="8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5" name="矩形"/>
          <p:cNvSpPr>
            <a:spLocks/>
          </p:cNvSpPr>
          <p:nvPr/>
        </p:nvSpPr>
        <p:spPr>
          <a:xfrm rot="0">
            <a:off x="4713732" y="2880360"/>
            <a:ext cx="146303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6" name="圆角矩形"/>
          <p:cNvSpPr>
            <a:spLocks/>
          </p:cNvSpPr>
          <p:nvPr/>
        </p:nvSpPr>
        <p:spPr>
          <a:xfrm rot="0">
            <a:off x="4864608" y="2103120"/>
            <a:ext cx="2048255" cy="1965960"/>
          </a:xfrm>
          <a:prstGeom prst="roundRect">
            <a:avLst>
              <a:gd name="adj" fmla="val 372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07" name="椭圆"/>
          <p:cNvSpPr>
            <a:spLocks/>
          </p:cNvSpPr>
          <p:nvPr/>
        </p:nvSpPr>
        <p:spPr>
          <a:xfrm rot="0">
            <a:off x="5669280" y="2286000"/>
            <a:ext cx="438911" cy="438911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08" name="矩形"/>
          <p:cNvSpPr>
            <a:spLocks/>
          </p:cNvSpPr>
          <p:nvPr/>
        </p:nvSpPr>
        <p:spPr>
          <a:xfrm rot="0">
            <a:off x="5669280" y="2286000"/>
            <a:ext cx="438911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9" name="矩形"/>
          <p:cNvSpPr>
            <a:spLocks/>
          </p:cNvSpPr>
          <p:nvPr/>
        </p:nvSpPr>
        <p:spPr>
          <a:xfrm rot="0">
            <a:off x="4974335" y="2880360"/>
            <a:ext cx="18288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TF-IDF transform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0" name="矩形"/>
          <p:cNvSpPr>
            <a:spLocks/>
          </p:cNvSpPr>
          <p:nvPr/>
        </p:nvSpPr>
        <p:spPr>
          <a:xfrm rot="0">
            <a:off x="4974335" y="3383279"/>
            <a:ext cx="18288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Same fitted 3,000-feature vectorizer</a:t>
            </a:r>
            <a:endParaRPr lang="zh-CN" altLang="en-US" sz="8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1" name="矩形"/>
          <p:cNvSpPr>
            <a:spLocks/>
          </p:cNvSpPr>
          <p:nvPr/>
        </p:nvSpPr>
        <p:spPr>
          <a:xfrm rot="0">
            <a:off x="6917435" y="2880360"/>
            <a:ext cx="146303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2" name="圆角矩形"/>
          <p:cNvSpPr>
            <a:spLocks/>
          </p:cNvSpPr>
          <p:nvPr/>
        </p:nvSpPr>
        <p:spPr>
          <a:xfrm rot="0">
            <a:off x="7068312" y="2103120"/>
            <a:ext cx="2048255" cy="1965960"/>
          </a:xfrm>
          <a:prstGeom prst="roundRect">
            <a:avLst>
              <a:gd name="adj" fmla="val 3722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613" name="椭圆"/>
          <p:cNvSpPr>
            <a:spLocks/>
          </p:cNvSpPr>
          <p:nvPr/>
        </p:nvSpPr>
        <p:spPr>
          <a:xfrm rot="0">
            <a:off x="7872984" y="2286000"/>
            <a:ext cx="438911" cy="438911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14" name="矩形"/>
          <p:cNvSpPr>
            <a:spLocks/>
          </p:cNvSpPr>
          <p:nvPr/>
        </p:nvSpPr>
        <p:spPr>
          <a:xfrm rot="0">
            <a:off x="7872984" y="2286000"/>
            <a:ext cx="438911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5" name="矩形"/>
          <p:cNvSpPr>
            <a:spLocks/>
          </p:cNvSpPr>
          <p:nvPr/>
        </p:nvSpPr>
        <p:spPr>
          <a:xfrm rot="0">
            <a:off x="7178040" y="2880360"/>
            <a:ext cx="18288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Model prediction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6" name="矩形"/>
          <p:cNvSpPr>
            <a:spLocks/>
          </p:cNvSpPr>
          <p:nvPr/>
        </p:nvSpPr>
        <p:spPr>
          <a:xfrm rot="0">
            <a:off x="7178040" y="3383279"/>
            <a:ext cx="18288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Select the model which give highest score.</a:t>
            </a:r>
            <a:endParaRPr lang="zh-CN" altLang="en-US" sz="880" b="0" i="0" u="none" strike="noStrike" kern="1200" cap="none" spc="0" baseline="0">
              <a:solidFill>
                <a:srgbClr val="C6D1EE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</p:txBody>
      </p:sp>
      <p:sp>
        <p:nvSpPr>
          <p:cNvPr id="617" name="矩形"/>
          <p:cNvSpPr>
            <a:spLocks/>
          </p:cNvSpPr>
          <p:nvPr/>
        </p:nvSpPr>
        <p:spPr>
          <a:xfrm rot="0">
            <a:off x="9121140" y="2880360"/>
            <a:ext cx="146303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→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8" name="圆角矩形"/>
          <p:cNvSpPr>
            <a:spLocks/>
          </p:cNvSpPr>
          <p:nvPr/>
        </p:nvSpPr>
        <p:spPr>
          <a:xfrm rot="0">
            <a:off x="9272016" y="2103120"/>
            <a:ext cx="2048255" cy="1965960"/>
          </a:xfrm>
          <a:prstGeom prst="roundRect">
            <a:avLst>
              <a:gd name="adj" fmla="val 372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19" name="椭圆"/>
          <p:cNvSpPr>
            <a:spLocks/>
          </p:cNvSpPr>
          <p:nvPr/>
        </p:nvSpPr>
        <p:spPr>
          <a:xfrm rot="0">
            <a:off x="10076688" y="2286000"/>
            <a:ext cx="438911" cy="438911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20" name="矩形"/>
          <p:cNvSpPr>
            <a:spLocks/>
          </p:cNvSpPr>
          <p:nvPr/>
        </p:nvSpPr>
        <p:spPr>
          <a:xfrm rot="0">
            <a:off x="10076688" y="2286000"/>
            <a:ext cx="438911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1" name="矩形"/>
          <p:cNvSpPr>
            <a:spLocks/>
          </p:cNvSpPr>
          <p:nvPr/>
        </p:nvSpPr>
        <p:spPr>
          <a:xfrm rot="0">
            <a:off x="9381744" y="2880360"/>
            <a:ext cx="182880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Display sentiment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2" name="矩形"/>
          <p:cNvSpPr>
            <a:spLocks/>
          </p:cNvSpPr>
          <p:nvPr/>
        </p:nvSpPr>
        <p:spPr>
          <a:xfrm rot="0">
            <a:off x="9381744" y="3383279"/>
            <a:ext cx="1828800" cy="6400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8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Positive / Neutral / Negative shown instantly</a:t>
            </a:r>
            <a:endParaRPr lang="zh-CN" altLang="en-US" sz="8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3" name="圆角矩形"/>
          <p:cNvSpPr>
            <a:spLocks/>
          </p:cNvSpPr>
          <p:nvPr/>
        </p:nvSpPr>
        <p:spPr>
          <a:xfrm rot="0">
            <a:off x="457200" y="4480560"/>
            <a:ext cx="11274552" cy="1325879"/>
          </a:xfrm>
          <a:prstGeom prst="roundRect">
            <a:avLst>
              <a:gd name="adj" fmla="val 5518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624" name="矩形"/>
          <p:cNvSpPr>
            <a:spLocks/>
          </p:cNvSpPr>
          <p:nvPr/>
        </p:nvSpPr>
        <p:spPr>
          <a:xfrm rot="0">
            <a:off x="777240" y="4645152"/>
            <a:ext cx="457200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b="1" i="0" u="none" strike="noStrike" kern="0" cap="none" spc="8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LIVE DEPLOYMENT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5" name="矩形"/>
          <p:cNvSpPr>
            <a:spLocks/>
          </p:cNvSpPr>
          <p:nvPr/>
        </p:nvSpPr>
        <p:spPr>
          <a:xfrm rot="0">
            <a:off x="777240" y="4919471"/>
            <a:ext cx="1060704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0" u="none" strike="noStrike" kern="1200" cap="none" spc="0" baseline="0">
                <a:solidFill>
                  <a:srgbClr val="E3E8F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Built and hosted on Streamlit Community Cloud — model, vectorizer, and preprocessing pipeline pickled and served via a lightweight Python web app.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6" name="矩形"/>
          <p:cNvSpPr>
            <a:spLocks/>
          </p:cNvSpPr>
          <p:nvPr/>
        </p:nvSpPr>
        <p:spPr>
          <a:xfrm rot="0">
            <a:off x="777240" y="5349239"/>
            <a:ext cx="1060704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sentimental-assignment-ftnbxwy6j4qymnnnxqgbcm.streamlit.app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7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28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29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041855383"/>
      </p:ext>
    </p:extLst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1" y="1953985"/>
            <a:ext cx="6237513" cy="4904014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34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237513" y="1953985"/>
            <a:ext cx="5954484" cy="490401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35" name="矩形"/>
          <p:cNvSpPr>
            <a:spLocks/>
          </p:cNvSpPr>
          <p:nvPr/>
        </p:nvSpPr>
        <p:spPr>
          <a:xfrm rot="0">
            <a:off x="342900" y="386443"/>
            <a:ext cx="358139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07 — DEPLOYMENT</a:t>
            </a:r>
            <a:endParaRPr lang="en-US" altLang="zh-CN" sz="1150" b="1" i="0" u="none" strike="noStrike" kern="0" cap="none" spc="120" baseline="0">
              <a:solidFill>
                <a:srgbClr val="2E6BF2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36" name="矩形"/>
          <p:cNvSpPr>
            <a:spLocks/>
          </p:cNvSpPr>
          <p:nvPr/>
        </p:nvSpPr>
        <p:spPr>
          <a:xfrm rot="0">
            <a:off x="288471" y="824215"/>
            <a:ext cx="4773386" cy="5010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Positive Review</a:t>
            </a:r>
            <a:endParaRPr lang="zh-CN" altLang="en-US" sz="2700" b="1" i="0" u="none" strike="noStrike" kern="1200" cap="none" spc="0" baseline="0">
              <a:solidFill>
                <a:srgbClr val="0B1F45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</p:txBody>
      </p:sp>
      <p:sp>
        <p:nvSpPr>
          <p:cNvPr id="637" name="矩形"/>
          <p:cNvSpPr>
            <a:spLocks/>
          </p:cNvSpPr>
          <p:nvPr/>
        </p:nvSpPr>
        <p:spPr>
          <a:xfrm rot="0">
            <a:off x="342900" y="1436767"/>
            <a:ext cx="8131628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Screenshot of the deployed web application with positive feed back.</a:t>
            </a:r>
            <a:endParaRPr lang="zh-CN" altLang="en-US" sz="1400" b="0" i="1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879126"/>
      </p:ext>
    </p:extLst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1812470"/>
            <a:ext cx="5724059" cy="5045530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39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724058" y="1812470"/>
            <a:ext cx="6467941" cy="504552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40" name="矩形"/>
          <p:cNvSpPr>
            <a:spLocks/>
          </p:cNvSpPr>
          <p:nvPr/>
        </p:nvSpPr>
        <p:spPr>
          <a:xfrm rot="0">
            <a:off x="453563" y="342900"/>
            <a:ext cx="481692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07 — DEPLOYMENT</a:t>
            </a:r>
            <a:endParaRPr lang="en-US" altLang="zh-CN" sz="1150" b="1" i="0" u="none" strike="noStrike" kern="0" cap="none" spc="120" baseline="0">
              <a:solidFill>
                <a:srgbClr val="2E6BF2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1" name="矩形"/>
          <p:cNvSpPr>
            <a:spLocks/>
          </p:cNvSpPr>
          <p:nvPr/>
        </p:nvSpPr>
        <p:spPr>
          <a:xfrm rot="0">
            <a:off x="453563" y="764017"/>
            <a:ext cx="5087245" cy="5010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Negative Review</a:t>
            </a:r>
            <a:endParaRPr lang="zh-CN" altLang="en-US" sz="2700" b="1" i="0" u="none" strike="noStrike" kern="1200" cap="none" spc="0" baseline="0">
              <a:solidFill>
                <a:srgbClr val="0B1F45"/>
              </a:solidFill>
              <a:latin typeface="Calibri" pitchFamily="0" charset="0"/>
              <a:ea typeface="Calibri" pitchFamily="0" charset="0"/>
              <a:cs typeface="Calibri" pitchFamily="0" charset="0"/>
            </a:endParaRPr>
          </a:p>
        </p:txBody>
      </p:sp>
      <p:sp>
        <p:nvSpPr>
          <p:cNvPr id="642" name="矩形"/>
          <p:cNvSpPr>
            <a:spLocks/>
          </p:cNvSpPr>
          <p:nvPr/>
        </p:nvSpPr>
        <p:spPr>
          <a:xfrm rot="0">
            <a:off x="453563" y="1310320"/>
            <a:ext cx="607422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1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Screenshot of the deployed web application with negative feed back.</a:t>
            </a:r>
            <a:endParaRPr lang="en-US" altLang="zh-CN" sz="1400" b="0" i="1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079"/>
      </p:ext>
    </p:extLst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07 — DEPLOYMENT &amp; ROADMAP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4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Real-World Challenges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5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Production NLP rarely looks like a clean textbook example — here is what we navigated.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6" name="圆角矩形"/>
          <p:cNvSpPr>
            <a:spLocks/>
          </p:cNvSpPr>
          <p:nvPr/>
        </p:nvSpPr>
        <p:spPr>
          <a:xfrm rot="0">
            <a:off x="457200" y="1737360"/>
            <a:ext cx="3675888" cy="1417319"/>
          </a:xfrm>
          <a:prstGeom prst="roundRect">
            <a:avLst>
              <a:gd name="adj" fmla="val 516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47" name="圆角矩形"/>
          <p:cNvSpPr>
            <a:spLocks/>
          </p:cNvSpPr>
          <p:nvPr/>
        </p:nvSpPr>
        <p:spPr>
          <a:xfrm rot="0">
            <a:off x="621791" y="1883664"/>
            <a:ext cx="3346704" cy="292608"/>
          </a:xfrm>
          <a:prstGeom prst="roundRect">
            <a:avLst>
              <a:gd name="adj" fmla="val 50000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648" name="矩形"/>
          <p:cNvSpPr>
            <a:spLocks/>
          </p:cNvSpPr>
          <p:nvPr/>
        </p:nvSpPr>
        <p:spPr>
          <a:xfrm rot="0">
            <a:off x="621791" y="1883664"/>
            <a:ext cx="3346704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Imbalanced classes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9" name="矩形"/>
          <p:cNvSpPr>
            <a:spLocks/>
          </p:cNvSpPr>
          <p:nvPr/>
        </p:nvSpPr>
        <p:spPr>
          <a:xfrm rot="0">
            <a:off x="621791" y="2240280"/>
            <a:ext cx="3346704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Neutral is only 13.8% of data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0" name="矩形"/>
          <p:cNvSpPr>
            <a:spLocks/>
          </p:cNvSpPr>
          <p:nvPr/>
        </p:nvSpPr>
        <p:spPr>
          <a:xfrm rot="0">
            <a:off x="621791" y="2532887"/>
            <a:ext cx="3346704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7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Flagged as the #1 priority for future oversampling / class-weighting</a:t>
            </a:r>
            <a:endParaRPr lang="zh-CN" altLang="en-US" sz="97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1" name="圆角矩形"/>
          <p:cNvSpPr>
            <a:spLocks/>
          </p:cNvSpPr>
          <p:nvPr/>
        </p:nvSpPr>
        <p:spPr>
          <a:xfrm rot="0">
            <a:off x="4251960" y="1737360"/>
            <a:ext cx="3675887" cy="1417319"/>
          </a:xfrm>
          <a:prstGeom prst="roundRect">
            <a:avLst>
              <a:gd name="adj" fmla="val 516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52" name="圆角矩形"/>
          <p:cNvSpPr>
            <a:spLocks/>
          </p:cNvSpPr>
          <p:nvPr/>
        </p:nvSpPr>
        <p:spPr>
          <a:xfrm rot="0">
            <a:off x="4416552" y="1883664"/>
            <a:ext cx="3346703" cy="292608"/>
          </a:xfrm>
          <a:prstGeom prst="roundRect">
            <a:avLst>
              <a:gd name="adj" fmla="val 50000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653" name="矩形"/>
          <p:cNvSpPr>
            <a:spLocks/>
          </p:cNvSpPr>
          <p:nvPr/>
        </p:nvSpPr>
        <p:spPr>
          <a:xfrm rot="0">
            <a:off x="4416552" y="1883664"/>
            <a:ext cx="3346703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Sarcasm &amp; mixed signals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4" name="矩形"/>
          <p:cNvSpPr>
            <a:spLocks/>
          </p:cNvSpPr>
          <p:nvPr/>
        </p:nvSpPr>
        <p:spPr>
          <a:xfrm rot="0">
            <a:off x="4416552" y="2240280"/>
            <a:ext cx="3346703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"Great, another broken phone"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5" name="矩形"/>
          <p:cNvSpPr>
            <a:spLocks/>
          </p:cNvSpPr>
          <p:nvPr/>
        </p:nvSpPr>
        <p:spPr>
          <a:xfrm rot="0">
            <a:off x="4416552" y="2532887"/>
            <a:ext cx="3346703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7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Documented as a known limitation of lexicon &amp; TF-IDF models</a:t>
            </a:r>
            <a:endParaRPr lang="zh-CN" altLang="en-US" sz="97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6" name="圆角矩形"/>
          <p:cNvSpPr>
            <a:spLocks/>
          </p:cNvSpPr>
          <p:nvPr/>
        </p:nvSpPr>
        <p:spPr>
          <a:xfrm rot="0">
            <a:off x="8046719" y="1737360"/>
            <a:ext cx="3675887" cy="1417319"/>
          </a:xfrm>
          <a:prstGeom prst="roundRect">
            <a:avLst>
              <a:gd name="adj" fmla="val 516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57" name="圆角矩形"/>
          <p:cNvSpPr>
            <a:spLocks/>
          </p:cNvSpPr>
          <p:nvPr/>
        </p:nvSpPr>
        <p:spPr>
          <a:xfrm rot="0">
            <a:off x="8211312" y="1883664"/>
            <a:ext cx="3346704" cy="292608"/>
          </a:xfrm>
          <a:prstGeom prst="roundRect">
            <a:avLst>
              <a:gd name="adj" fmla="val 50000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658" name="矩形"/>
          <p:cNvSpPr>
            <a:spLocks/>
          </p:cNvSpPr>
          <p:nvPr/>
        </p:nvSpPr>
        <p:spPr>
          <a:xfrm rot="0">
            <a:off x="8211312" y="1883664"/>
            <a:ext cx="3346704" cy="2926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Spelling mistakes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59" name="矩形"/>
          <p:cNvSpPr>
            <a:spLocks/>
          </p:cNvSpPr>
          <p:nvPr/>
        </p:nvSpPr>
        <p:spPr>
          <a:xfrm rot="0">
            <a:off x="8211312" y="2240280"/>
            <a:ext cx="3346704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Informal, typo-prone customer text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0" name="矩形"/>
          <p:cNvSpPr>
            <a:spLocks/>
          </p:cNvSpPr>
          <p:nvPr/>
        </p:nvSpPr>
        <p:spPr>
          <a:xfrm rot="0">
            <a:off x="8211312" y="2532887"/>
            <a:ext cx="3346704" cy="5486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7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Lemmatization partially normalizes common word-form errors</a:t>
            </a:r>
            <a:endParaRPr lang="zh-CN" altLang="en-US" sz="97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1" name="圆角矩形"/>
          <p:cNvSpPr>
            <a:spLocks/>
          </p:cNvSpPr>
          <p:nvPr/>
        </p:nvSpPr>
        <p:spPr>
          <a:xfrm rot="0">
            <a:off x="457200" y="3291840"/>
            <a:ext cx="3675888" cy="1417319"/>
          </a:xfrm>
          <a:prstGeom prst="roundRect">
            <a:avLst>
              <a:gd name="adj" fmla="val 516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62" name="圆角矩形"/>
          <p:cNvSpPr>
            <a:spLocks/>
          </p:cNvSpPr>
          <p:nvPr/>
        </p:nvSpPr>
        <p:spPr>
          <a:xfrm rot="0">
            <a:off x="621791" y="3438144"/>
            <a:ext cx="3346704" cy="292607"/>
          </a:xfrm>
          <a:prstGeom prst="roundRect">
            <a:avLst>
              <a:gd name="adj" fmla="val 50000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663" name="矩形"/>
          <p:cNvSpPr>
            <a:spLocks/>
          </p:cNvSpPr>
          <p:nvPr/>
        </p:nvSpPr>
        <p:spPr>
          <a:xfrm rot="0">
            <a:off x="621791" y="3438144"/>
            <a:ext cx="3346704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Short vs. long reviews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4" name="矩形"/>
          <p:cNvSpPr>
            <a:spLocks/>
          </p:cNvSpPr>
          <p:nvPr/>
        </p:nvSpPr>
        <p:spPr>
          <a:xfrm rot="0">
            <a:off x="621791" y="3794760"/>
            <a:ext cx="3346704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9 to 2,536 characters in the same set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5" name="矩形"/>
          <p:cNvSpPr>
            <a:spLocks/>
          </p:cNvSpPr>
          <p:nvPr/>
        </p:nvSpPr>
        <p:spPr>
          <a:xfrm rot="0">
            <a:off x="621791" y="4087368"/>
            <a:ext cx="3346704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7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TF-IDF's frequency weighting adapts naturally to length variance</a:t>
            </a:r>
            <a:endParaRPr lang="zh-CN" altLang="en-US" sz="97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6" name="圆角矩形"/>
          <p:cNvSpPr>
            <a:spLocks/>
          </p:cNvSpPr>
          <p:nvPr/>
        </p:nvSpPr>
        <p:spPr>
          <a:xfrm rot="0">
            <a:off x="4251960" y="3291840"/>
            <a:ext cx="3675887" cy="1417319"/>
          </a:xfrm>
          <a:prstGeom prst="roundRect">
            <a:avLst>
              <a:gd name="adj" fmla="val 516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67" name="圆角矩形"/>
          <p:cNvSpPr>
            <a:spLocks/>
          </p:cNvSpPr>
          <p:nvPr/>
        </p:nvSpPr>
        <p:spPr>
          <a:xfrm rot="0">
            <a:off x="4416552" y="3438144"/>
            <a:ext cx="3346703" cy="292607"/>
          </a:xfrm>
          <a:prstGeom prst="roundRect">
            <a:avLst>
              <a:gd name="adj" fmla="val 50000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668" name="矩形"/>
          <p:cNvSpPr>
            <a:spLocks/>
          </p:cNvSpPr>
          <p:nvPr/>
        </p:nvSpPr>
        <p:spPr>
          <a:xfrm rot="0">
            <a:off x="4416552" y="3438144"/>
            <a:ext cx="3346703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Negation handling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9" name="矩形"/>
          <p:cNvSpPr>
            <a:spLocks/>
          </p:cNvSpPr>
          <p:nvPr/>
        </p:nvSpPr>
        <p:spPr>
          <a:xfrm rot="0">
            <a:off x="4416552" y="3794760"/>
            <a:ext cx="3346703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"not good" vs. "good"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0" name="矩形"/>
          <p:cNvSpPr>
            <a:spLocks/>
          </p:cNvSpPr>
          <p:nvPr/>
        </p:nvSpPr>
        <p:spPr>
          <a:xfrm rot="0">
            <a:off x="4416552" y="4087368"/>
            <a:ext cx="3346703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7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VADER applies rule-based negation; ML models rely on n-gram context</a:t>
            </a:r>
            <a:endParaRPr lang="zh-CN" altLang="en-US" sz="97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1" name="圆角矩形"/>
          <p:cNvSpPr>
            <a:spLocks/>
          </p:cNvSpPr>
          <p:nvPr/>
        </p:nvSpPr>
        <p:spPr>
          <a:xfrm rot="0">
            <a:off x="8046719" y="3291840"/>
            <a:ext cx="3675887" cy="1417319"/>
          </a:xfrm>
          <a:prstGeom prst="roundRect">
            <a:avLst>
              <a:gd name="adj" fmla="val 5162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672" name="圆角矩形"/>
          <p:cNvSpPr>
            <a:spLocks/>
          </p:cNvSpPr>
          <p:nvPr/>
        </p:nvSpPr>
        <p:spPr>
          <a:xfrm rot="0">
            <a:off x="8211312" y="3438144"/>
            <a:ext cx="3346704" cy="292607"/>
          </a:xfrm>
          <a:prstGeom prst="roundRect">
            <a:avLst>
              <a:gd name="adj" fmla="val 50000"/>
            </a:avLst>
          </a:prstGeom>
          <a:solidFill>
            <a:srgbClr val="C0435A"/>
          </a:solidFill>
          <a:ln w="12700" cmpd="sng" cap="flat">
            <a:noFill/>
            <a:prstDash val="solid"/>
            <a:miter/>
          </a:ln>
        </p:spPr>
      </p:sp>
      <p:sp>
        <p:nvSpPr>
          <p:cNvPr id="673" name="矩形"/>
          <p:cNvSpPr>
            <a:spLocks/>
          </p:cNvSpPr>
          <p:nvPr/>
        </p:nvSpPr>
        <p:spPr>
          <a:xfrm rot="0">
            <a:off x="8211312" y="3438144"/>
            <a:ext cx="3346704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Noise &amp; emojis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4" name="矩形"/>
          <p:cNvSpPr>
            <a:spLocks/>
          </p:cNvSpPr>
          <p:nvPr/>
        </p:nvSpPr>
        <p:spPr>
          <a:xfrm rot="0">
            <a:off x="8211312" y="3794760"/>
            <a:ext cx="3346704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HTML fragments, symbols, emojis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5" name="矩形"/>
          <p:cNvSpPr>
            <a:spLocks/>
          </p:cNvSpPr>
          <p:nvPr/>
        </p:nvSpPr>
        <p:spPr>
          <a:xfrm rot="0">
            <a:off x="8211312" y="4087368"/>
            <a:ext cx="3346704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7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Regex-based cleaning strips non-alphabetic noise pre-vectorization</a:t>
            </a:r>
            <a:endParaRPr lang="zh-CN" altLang="en-US" sz="97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76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77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78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09954388"/>
      </p:ext>
    </p:extLst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SECTION 07 — DEPLOYMENT &amp; ROADMAP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3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Future Scope &amp; Roadmap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4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AEB9DA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From classical ML to a transformer-powered, multilingual, real-time sentiment platform.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5" name="圆角矩形"/>
          <p:cNvSpPr>
            <a:spLocks/>
          </p:cNvSpPr>
          <p:nvPr/>
        </p:nvSpPr>
        <p:spPr>
          <a:xfrm rot="0">
            <a:off x="457200" y="1691639"/>
            <a:ext cx="3639312" cy="1691639"/>
          </a:xfrm>
          <a:prstGeom prst="roundRect">
            <a:avLst>
              <a:gd name="adj" fmla="val 4324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686" name="椭圆"/>
          <p:cNvSpPr>
            <a:spLocks/>
          </p:cNvSpPr>
          <p:nvPr/>
        </p:nvSpPr>
        <p:spPr>
          <a:xfrm rot="0">
            <a:off x="640080" y="1874520"/>
            <a:ext cx="384047" cy="384048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87" name="矩形"/>
          <p:cNvSpPr>
            <a:spLocks/>
          </p:cNvSpPr>
          <p:nvPr/>
        </p:nvSpPr>
        <p:spPr>
          <a:xfrm rot="0">
            <a:off x="640080" y="1874520"/>
            <a:ext cx="384047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8" name="矩形"/>
          <p:cNvSpPr>
            <a:spLocks/>
          </p:cNvSpPr>
          <p:nvPr/>
        </p:nvSpPr>
        <p:spPr>
          <a:xfrm rot="0">
            <a:off x="640080" y="2350008"/>
            <a:ext cx="3273552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Transformer Models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9" name="矩形"/>
          <p:cNvSpPr>
            <a:spLocks/>
          </p:cNvSpPr>
          <p:nvPr/>
        </p:nvSpPr>
        <p:spPr>
          <a:xfrm rot="0">
            <a:off x="640080" y="2715768"/>
            <a:ext cx="327355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BERT, RoBERTa &amp; DistilBERT for contextual, sarcasm-aware sentiment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0" name="圆角矩形"/>
          <p:cNvSpPr>
            <a:spLocks/>
          </p:cNvSpPr>
          <p:nvPr/>
        </p:nvSpPr>
        <p:spPr>
          <a:xfrm rot="0">
            <a:off x="4233672" y="1691639"/>
            <a:ext cx="3639312" cy="1691639"/>
          </a:xfrm>
          <a:prstGeom prst="roundRect">
            <a:avLst>
              <a:gd name="adj" fmla="val 4324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691" name="椭圆"/>
          <p:cNvSpPr>
            <a:spLocks/>
          </p:cNvSpPr>
          <p:nvPr/>
        </p:nvSpPr>
        <p:spPr>
          <a:xfrm rot="0">
            <a:off x="4416552" y="1874520"/>
            <a:ext cx="384048" cy="384048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92" name="矩形"/>
          <p:cNvSpPr>
            <a:spLocks/>
          </p:cNvSpPr>
          <p:nvPr/>
        </p:nvSpPr>
        <p:spPr>
          <a:xfrm rot="0">
            <a:off x="4416552" y="1874520"/>
            <a:ext cx="384048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3" name="矩形"/>
          <p:cNvSpPr>
            <a:spLocks/>
          </p:cNvSpPr>
          <p:nvPr/>
        </p:nvSpPr>
        <p:spPr>
          <a:xfrm rot="0">
            <a:off x="4416552" y="2350008"/>
            <a:ext cx="3273552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Aspect-Based Sentiment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4" name="矩形"/>
          <p:cNvSpPr>
            <a:spLocks/>
          </p:cNvSpPr>
          <p:nvPr/>
        </p:nvSpPr>
        <p:spPr>
          <a:xfrm rot="0">
            <a:off x="4416552" y="2715768"/>
            <a:ext cx="327355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Separate scores per feature — camera, battery, price — not just overall polarity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5" name="圆角矩形"/>
          <p:cNvSpPr>
            <a:spLocks/>
          </p:cNvSpPr>
          <p:nvPr/>
        </p:nvSpPr>
        <p:spPr>
          <a:xfrm rot="0">
            <a:off x="8010144" y="1691639"/>
            <a:ext cx="3639311" cy="1691639"/>
          </a:xfrm>
          <a:prstGeom prst="roundRect">
            <a:avLst>
              <a:gd name="adj" fmla="val 4324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696" name="椭圆"/>
          <p:cNvSpPr>
            <a:spLocks/>
          </p:cNvSpPr>
          <p:nvPr/>
        </p:nvSpPr>
        <p:spPr>
          <a:xfrm rot="0">
            <a:off x="8193023" y="1874520"/>
            <a:ext cx="384048" cy="384048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697" name="矩形"/>
          <p:cNvSpPr>
            <a:spLocks/>
          </p:cNvSpPr>
          <p:nvPr/>
        </p:nvSpPr>
        <p:spPr>
          <a:xfrm rot="0">
            <a:off x="8193023" y="1874520"/>
            <a:ext cx="384048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8" name="矩形"/>
          <p:cNvSpPr>
            <a:spLocks/>
          </p:cNvSpPr>
          <p:nvPr/>
        </p:nvSpPr>
        <p:spPr>
          <a:xfrm rot="0">
            <a:off x="8193023" y="2350008"/>
            <a:ext cx="3273552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Multilingual NLP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9" name="矩形"/>
          <p:cNvSpPr>
            <a:spLocks/>
          </p:cNvSpPr>
          <p:nvPr/>
        </p:nvSpPr>
        <p:spPr>
          <a:xfrm rot="0">
            <a:off x="8193023" y="2715768"/>
            <a:ext cx="327355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Extend beyond English to serve global customer bases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0" name="圆角矩形"/>
          <p:cNvSpPr>
            <a:spLocks/>
          </p:cNvSpPr>
          <p:nvPr/>
        </p:nvSpPr>
        <p:spPr>
          <a:xfrm rot="0">
            <a:off x="457200" y="3547872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701" name="椭圆"/>
          <p:cNvSpPr>
            <a:spLocks/>
          </p:cNvSpPr>
          <p:nvPr/>
        </p:nvSpPr>
        <p:spPr>
          <a:xfrm rot="0">
            <a:off x="640080" y="3730752"/>
            <a:ext cx="384047" cy="384048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02" name="矩形"/>
          <p:cNvSpPr>
            <a:spLocks/>
          </p:cNvSpPr>
          <p:nvPr/>
        </p:nvSpPr>
        <p:spPr>
          <a:xfrm rot="0">
            <a:off x="640080" y="3730752"/>
            <a:ext cx="384047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3" name="矩形"/>
          <p:cNvSpPr>
            <a:spLocks/>
          </p:cNvSpPr>
          <p:nvPr/>
        </p:nvSpPr>
        <p:spPr>
          <a:xfrm rot="0">
            <a:off x="640080" y="4206240"/>
            <a:ext cx="3273552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Real-Time Dashboards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4" name="矩形"/>
          <p:cNvSpPr>
            <a:spLocks/>
          </p:cNvSpPr>
          <p:nvPr/>
        </p:nvSpPr>
        <p:spPr>
          <a:xfrm rot="0">
            <a:off x="640080" y="4572000"/>
            <a:ext cx="327355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Live sentiment trend monitoring for product &amp; CX teams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5" name="圆角矩形"/>
          <p:cNvSpPr>
            <a:spLocks/>
          </p:cNvSpPr>
          <p:nvPr/>
        </p:nvSpPr>
        <p:spPr>
          <a:xfrm rot="0">
            <a:off x="4233672" y="3547872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706" name="椭圆"/>
          <p:cNvSpPr>
            <a:spLocks/>
          </p:cNvSpPr>
          <p:nvPr/>
        </p:nvSpPr>
        <p:spPr>
          <a:xfrm rot="0">
            <a:off x="4416552" y="3730752"/>
            <a:ext cx="384048" cy="384048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07" name="矩形"/>
          <p:cNvSpPr>
            <a:spLocks/>
          </p:cNvSpPr>
          <p:nvPr/>
        </p:nvSpPr>
        <p:spPr>
          <a:xfrm rot="0">
            <a:off x="4416552" y="3730752"/>
            <a:ext cx="384048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8" name="矩形"/>
          <p:cNvSpPr>
            <a:spLocks/>
          </p:cNvSpPr>
          <p:nvPr/>
        </p:nvSpPr>
        <p:spPr>
          <a:xfrm rot="0">
            <a:off x="4416552" y="4206240"/>
            <a:ext cx="3273552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Cloud-Native Deployment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9" name="矩形"/>
          <p:cNvSpPr>
            <a:spLocks/>
          </p:cNvSpPr>
          <p:nvPr/>
        </p:nvSpPr>
        <p:spPr>
          <a:xfrm rot="0">
            <a:off x="4416552" y="4572000"/>
            <a:ext cx="327355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Containerized, auto-scaling API beyond the current Streamlit prototype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0" name="圆角矩形"/>
          <p:cNvSpPr>
            <a:spLocks/>
          </p:cNvSpPr>
          <p:nvPr/>
        </p:nvSpPr>
        <p:spPr>
          <a:xfrm rot="0">
            <a:off x="8010144" y="3547872"/>
            <a:ext cx="3639311" cy="1691640"/>
          </a:xfrm>
          <a:prstGeom prst="roundRect">
            <a:avLst>
              <a:gd name="adj" fmla="val 4324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711" name="椭圆"/>
          <p:cNvSpPr>
            <a:spLocks/>
          </p:cNvSpPr>
          <p:nvPr/>
        </p:nvSpPr>
        <p:spPr>
          <a:xfrm rot="0">
            <a:off x="8193023" y="3730752"/>
            <a:ext cx="384048" cy="384048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12" name="矩形"/>
          <p:cNvSpPr>
            <a:spLocks/>
          </p:cNvSpPr>
          <p:nvPr/>
        </p:nvSpPr>
        <p:spPr>
          <a:xfrm rot="0">
            <a:off x="8193023" y="3730752"/>
            <a:ext cx="384048" cy="38404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3" name="矩形"/>
          <p:cNvSpPr>
            <a:spLocks/>
          </p:cNvSpPr>
          <p:nvPr/>
        </p:nvSpPr>
        <p:spPr>
          <a:xfrm rot="0">
            <a:off x="8193023" y="4206240"/>
            <a:ext cx="3273552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LLM-Powered Insights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4" name="矩形"/>
          <p:cNvSpPr>
            <a:spLocks/>
          </p:cNvSpPr>
          <p:nvPr/>
        </p:nvSpPr>
        <p:spPr>
          <a:xfrm rot="0">
            <a:off x="8193023" y="4572000"/>
            <a:ext cx="3273552" cy="5943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80" b="0" i="0" u="none" strike="noStrike" kern="1200" cap="none" spc="0" baseline="0">
                <a:solidFill>
                  <a:srgbClr val="C6D1E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Generative summarization of *why* sentiment is shifting, not just *what*</a:t>
            </a:r>
            <a:endParaRPr lang="zh-CN" altLang="en-US" sz="98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15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16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17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782583369"/>
      </p:ext>
    </p:extLst>
  </p:cSld>
  <p:clrMapOvr>
    <a:masterClrMapping/>
  </p:clrMapOvr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矩形"/>
          <p:cNvSpPr>
            <a:spLocks/>
          </p:cNvSpPr>
          <p:nvPr/>
        </p:nvSpPr>
        <p:spPr>
          <a:xfrm rot="0">
            <a:off x="457200" y="320040"/>
            <a:ext cx="91440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0" cap="none" spc="12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CONCLUSION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2" name="矩形"/>
          <p:cNvSpPr>
            <a:spLocks/>
          </p:cNvSpPr>
          <p:nvPr/>
        </p:nvSpPr>
        <p:spPr>
          <a:xfrm rot="0">
            <a:off x="457200" y="566928"/>
            <a:ext cx="1124712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1" i="0" u="none" strike="noStrike" kern="1200" cap="none" spc="0" baseline="0">
                <a:solidFill>
                  <a:srgbClr val="0B1F4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Business Impact &amp; Conclusion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3" name="矩形"/>
          <p:cNvSpPr>
            <a:spLocks/>
          </p:cNvSpPr>
          <p:nvPr/>
        </p:nvSpPr>
        <p:spPr>
          <a:xfrm rot="0">
            <a:off x="457200" y="1133856"/>
            <a:ext cx="11247120" cy="31089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deployment-ready system that converts raw customer language into measurable business value.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4" name="圆角矩形"/>
          <p:cNvSpPr>
            <a:spLocks/>
          </p:cNvSpPr>
          <p:nvPr/>
        </p:nvSpPr>
        <p:spPr>
          <a:xfrm rot="0">
            <a:off x="457200" y="1737360"/>
            <a:ext cx="3566160" cy="3931920"/>
          </a:xfrm>
          <a:prstGeom prst="roundRect">
            <a:avLst>
              <a:gd name="adj" fmla="val 205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725" name="圆角矩形"/>
          <p:cNvSpPr>
            <a:spLocks/>
          </p:cNvSpPr>
          <p:nvPr/>
        </p:nvSpPr>
        <p:spPr>
          <a:xfrm rot="0">
            <a:off x="658368" y="1938527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B1F45"/>
          </a:solidFill>
          <a:ln w="12700" cmpd="sng" cap="flat">
            <a:noFill/>
            <a:prstDash val="solid"/>
            <a:miter/>
          </a:ln>
        </p:spPr>
      </p:sp>
      <p:sp>
        <p:nvSpPr>
          <p:cNvPr id="726" name="矩形"/>
          <p:cNvSpPr>
            <a:spLocks/>
          </p:cNvSpPr>
          <p:nvPr/>
        </p:nvSpPr>
        <p:spPr>
          <a:xfrm rot="0">
            <a:off x="658368" y="1938527"/>
            <a:ext cx="237744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Business Impact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7" name="矩形"/>
          <p:cNvSpPr>
            <a:spLocks/>
          </p:cNvSpPr>
          <p:nvPr/>
        </p:nvSpPr>
        <p:spPr>
          <a:xfrm rot="0">
            <a:off x="658368" y="2468880"/>
            <a:ext cx="3200400" cy="3063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Automates triage of 1,440+ reviews that would otherwise require manual reading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Surfaces negative sentiment early enough to act before churn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Gives product teams evidence-based prioritization (camera, battery, price themes)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8" name="圆角矩形"/>
          <p:cNvSpPr>
            <a:spLocks/>
          </p:cNvSpPr>
          <p:nvPr/>
        </p:nvSpPr>
        <p:spPr>
          <a:xfrm rot="0">
            <a:off x="4251960" y="1737360"/>
            <a:ext cx="3566160" cy="3931920"/>
          </a:xfrm>
          <a:prstGeom prst="roundRect">
            <a:avLst>
              <a:gd name="adj" fmla="val 2050"/>
            </a:avLst>
          </a:prstGeom>
          <a:solidFill>
            <a:srgbClr val="F3F4F6"/>
          </a:solidFill>
          <a:ln w="12700" cmpd="sng" cap="flat">
            <a:noFill/>
            <a:prstDash val="solid"/>
            <a:miter/>
          </a:ln>
        </p:spPr>
      </p:sp>
      <p:sp>
        <p:nvSpPr>
          <p:cNvPr id="729" name="圆角矩形"/>
          <p:cNvSpPr>
            <a:spLocks/>
          </p:cNvSpPr>
          <p:nvPr/>
        </p:nvSpPr>
        <p:spPr>
          <a:xfrm rot="0">
            <a:off x="4453128" y="1938527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730" name="矩形"/>
          <p:cNvSpPr>
            <a:spLocks/>
          </p:cNvSpPr>
          <p:nvPr/>
        </p:nvSpPr>
        <p:spPr>
          <a:xfrm rot="0">
            <a:off x="4453128" y="1938527"/>
            <a:ext cx="237744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Technical Achievements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1" name="矩形"/>
          <p:cNvSpPr>
            <a:spLocks/>
          </p:cNvSpPr>
          <p:nvPr/>
        </p:nvSpPr>
        <p:spPr>
          <a:xfrm rot="0">
            <a:off x="4453128" y="2468880"/>
            <a:ext cx="3200399" cy="3063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7-model benchmark built on a shared, reproducible TF-IDF pipeline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79.51% accuracy with the interpretable Logistic Regression winner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Identified and documented the class-imbalance limitation transparently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2" name="圆角矩形"/>
          <p:cNvSpPr>
            <a:spLocks/>
          </p:cNvSpPr>
          <p:nvPr/>
        </p:nvSpPr>
        <p:spPr>
          <a:xfrm rot="0">
            <a:off x="8046719" y="1737360"/>
            <a:ext cx="3566160" cy="3931920"/>
          </a:xfrm>
          <a:prstGeom prst="roundRect">
            <a:avLst>
              <a:gd name="adj" fmla="val 2050"/>
            </a:avLst>
          </a:prstGeom>
          <a:solidFill>
            <a:srgbClr val="E8EDFB"/>
          </a:solidFill>
          <a:ln w="12700" cmpd="sng" cap="flat">
            <a:noFill/>
            <a:prstDash val="solid"/>
            <a:miter/>
          </a:ln>
        </p:spPr>
      </p:sp>
      <p:sp>
        <p:nvSpPr>
          <p:cNvPr id="733" name="圆角矩形"/>
          <p:cNvSpPr>
            <a:spLocks/>
          </p:cNvSpPr>
          <p:nvPr/>
        </p:nvSpPr>
        <p:spPr>
          <a:xfrm rot="0">
            <a:off x="8247887" y="1938527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34" name="矩形"/>
          <p:cNvSpPr>
            <a:spLocks/>
          </p:cNvSpPr>
          <p:nvPr/>
        </p:nvSpPr>
        <p:spPr>
          <a:xfrm rot="0">
            <a:off x="8247887" y="1938527"/>
            <a:ext cx="237744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Deployment Readiness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5" name="矩形"/>
          <p:cNvSpPr>
            <a:spLocks/>
          </p:cNvSpPr>
          <p:nvPr/>
        </p:nvSpPr>
        <p:spPr>
          <a:xfrm rot="0">
            <a:off x="8247887" y="2468880"/>
            <a:ext cx="3200399" cy="3063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Live, working Streamlit application — not just a notebook artifact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End-to-end pipeline: raw text → clean → vectorize → predict → display</a:t>
            </a:r>
            <a:endParaRPr lang="en-US" altLang="zh-CN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▪"/>
            </a:pPr>
            <a:r>
              <a:rPr lang="en-US" altLang="zh-CN" sz="1050" b="0" i="0" u="none" strike="noStrike" kern="1200" cap="none" spc="0" baseline="0">
                <a:solidFill>
                  <a:srgbClr val="16213E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Clear, prioritized roadmap toward transformer-based upgrades</a:t>
            </a:r>
            <a:endParaRPr lang="zh-CN" altLang="en-US" sz="10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36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37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38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470612680"/>
      </p:ext>
    </p:extLst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0B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矩形"/>
          <p:cNvSpPr>
            <a:spLocks/>
          </p:cNvSpPr>
          <p:nvPr/>
        </p:nvSpPr>
        <p:spPr>
          <a:xfrm rot="0">
            <a:off x="0" y="0"/>
            <a:ext cx="3593592" cy="6858000"/>
          </a:xfrm>
          <a:prstGeom prst="rect"/>
          <a:solidFill>
            <a:srgbClr val="142B5C"/>
          </a:solidFill>
          <a:ln w="12700" cmpd="sng" cap="flat">
            <a:noFill/>
            <a:prstDash val="solid"/>
            <a:miter/>
          </a:ln>
        </p:spPr>
      </p:sp>
      <p:sp>
        <p:nvSpPr>
          <p:cNvPr id="743" name="矩形"/>
          <p:cNvSpPr>
            <a:spLocks/>
          </p:cNvSpPr>
          <p:nvPr/>
        </p:nvSpPr>
        <p:spPr>
          <a:xfrm rot="0">
            <a:off x="3557015" y="0"/>
            <a:ext cx="36575" cy="6858000"/>
          </a:xfrm>
          <a:prstGeom prst="rect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44" name="椭圆"/>
          <p:cNvSpPr>
            <a:spLocks/>
          </p:cNvSpPr>
          <p:nvPr/>
        </p:nvSpPr>
        <p:spPr>
          <a:xfrm rot="0">
            <a:off x="457200" y="640080"/>
            <a:ext cx="91440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45" name="椭圆"/>
          <p:cNvSpPr>
            <a:spLocks/>
          </p:cNvSpPr>
          <p:nvPr/>
        </p:nvSpPr>
        <p:spPr>
          <a:xfrm rot="0">
            <a:off x="914400" y="64008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46" name="椭圆"/>
          <p:cNvSpPr>
            <a:spLocks/>
          </p:cNvSpPr>
          <p:nvPr/>
        </p:nvSpPr>
        <p:spPr>
          <a:xfrm rot="0">
            <a:off x="1371600" y="64008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47" name="椭圆"/>
          <p:cNvSpPr>
            <a:spLocks/>
          </p:cNvSpPr>
          <p:nvPr/>
        </p:nvSpPr>
        <p:spPr>
          <a:xfrm rot="0">
            <a:off x="457200" y="1051560"/>
            <a:ext cx="91440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48" name="椭圆"/>
          <p:cNvSpPr>
            <a:spLocks/>
          </p:cNvSpPr>
          <p:nvPr/>
        </p:nvSpPr>
        <p:spPr>
          <a:xfrm rot="0">
            <a:off x="914400" y="10515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49" name="椭圆"/>
          <p:cNvSpPr>
            <a:spLocks/>
          </p:cNvSpPr>
          <p:nvPr/>
        </p:nvSpPr>
        <p:spPr>
          <a:xfrm rot="0">
            <a:off x="1371600" y="1051560"/>
            <a:ext cx="91439" cy="91439"/>
          </a:xfrm>
          <a:prstGeom prst="ellipse"/>
          <a:solidFill>
            <a:srgbClr val="2E6BF2"/>
          </a:solidFill>
          <a:ln w="12700" cmpd="sng" cap="flat">
            <a:noFill/>
            <a:prstDash val="solid"/>
            <a:miter/>
          </a:ln>
        </p:spPr>
      </p:sp>
      <p:sp>
        <p:nvSpPr>
          <p:cNvPr id="750" name="矩形"/>
          <p:cNvSpPr>
            <a:spLocks/>
          </p:cNvSpPr>
          <p:nvPr/>
        </p:nvSpPr>
        <p:spPr>
          <a:xfrm rot="0">
            <a:off x="4114800" y="2377440"/>
            <a:ext cx="7498079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Thank You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1" name="矩形"/>
          <p:cNvSpPr>
            <a:spLocks/>
          </p:cNvSpPr>
          <p:nvPr/>
        </p:nvSpPr>
        <p:spPr>
          <a:xfrm rot="0">
            <a:off x="4114800" y="3200400"/>
            <a:ext cx="749807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1" u="none" strike="noStrike" kern="1200" cap="none" spc="0" baseline="0">
                <a:solidFill>
                  <a:srgbClr val="2E6BF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Questions &amp; Discussion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2" name="直线"/>
          <p:cNvSpPr>
            <a:spLocks/>
          </p:cNvSpPr>
          <p:nvPr/>
        </p:nvSpPr>
        <p:spPr>
          <a:xfrm rot="0">
            <a:off x="4114800" y="3886200"/>
            <a:ext cx="3840480" cy="0"/>
          </a:xfrm>
          <a:prstGeom prst="line"/>
          <a:noFill/>
          <a:ln w="19050" cmpd="sng" cap="flat">
            <a:solidFill>
              <a:srgbClr val="2E6BF2"/>
            </a:solidFill>
            <a:prstDash val="solid"/>
            <a:round/>
          </a:ln>
        </p:spPr>
      </p:sp>
      <p:sp>
        <p:nvSpPr>
          <p:cNvPr id="753" name="矩形"/>
          <p:cNvSpPr>
            <a:spLocks/>
          </p:cNvSpPr>
          <p:nvPr/>
        </p:nvSpPr>
        <p:spPr>
          <a:xfrm rot="0">
            <a:off x="4114800" y="4069080"/>
            <a:ext cx="749807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9AA6C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Live app:  </a:t>
            </a: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sentimental-assignment-ftnbxwy6j4qymnnnxqgbcm.streamlit.app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4" name="矩形"/>
          <p:cNvSpPr>
            <a:spLocks/>
          </p:cNvSpPr>
          <p:nvPr/>
        </p:nvSpPr>
        <p:spPr>
          <a:xfrm rot="0">
            <a:off x="4114800" y="4434840"/>
            <a:ext cx="749807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9AA6C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Dataset:  </a:t>
            </a:r>
            <a:r>
              <a:rPr lang="en-US" altLang="zh-CN" sz="125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1,440 customer reviews  |  Best model: Logistic Regression (79.51% accuracy)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5" name="矩形"/>
          <p:cNvSpPr>
            <a:spLocks/>
          </p:cNvSpPr>
          <p:nvPr/>
        </p:nvSpPr>
        <p:spPr>
          <a:xfrm rot="0">
            <a:off x="457200" y="6528816"/>
            <a:ext cx="7315200" cy="256032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56" name="矩形"/>
          <p:cNvSpPr>
            <a:spLocks/>
          </p:cNvSpPr>
          <p:nvPr/>
        </p:nvSpPr>
        <p:spPr>
          <a:xfrm rot="0">
            <a:off x="5943599" y="6528816"/>
            <a:ext cx="393192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Customer Review Sentiment Analysis  |  NLP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7" name="矩形"/>
          <p:cNvSpPr>
            <a:spLocks/>
          </p:cNvSpPr>
          <p:nvPr/>
        </p:nvSpPr>
        <p:spPr>
          <a:xfrm rot="0">
            <a:off x="11475720" y="6528816"/>
            <a:ext cx="548639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B647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32 / 32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969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476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Customer Review Sentiment Analysis using NLP</dc:title>
  <dc:subject>PptxGenJS Presentation</dc:subject>
  <dc:creator>Data Science Team</dc:creator>
  <cp:lastModifiedBy>root</cp:lastModifiedBy>
  <cp:revision>8</cp:revision>
  <dcterms:created xsi:type="dcterms:W3CDTF">2026-07-10T04:01:37Z</dcterms:created>
  <dcterms:modified xsi:type="dcterms:W3CDTF">2026-07-15T11:08:12Z</dcterms:modified>
</cp:coreProperties>
</file>